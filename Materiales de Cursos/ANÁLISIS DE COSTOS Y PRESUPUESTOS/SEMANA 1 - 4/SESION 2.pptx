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Barlow Black"/>
      <p:regular r:id="rId201316"/>
    </p:embeddedFont>
    <p:embeddedFont>
      <p:font typeface="Montserrat"/>
      <p:regular r:id="rId201317"/>
    </p:embeddedFont>
    <p:embeddedFont>
      <p:font typeface="Montserrat Bold"/>
      <p:regular r:id="rId201318"/>
    </p:embeddedFont>
    <p:embeddedFont>
      <p:font typeface="Montserrat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image" Target="../media/image-3-1.png"/><Relationship Id="rId12" Type="http://schemas.openxmlformats.org/officeDocument/2006/relationships/image" Target="../media/image-3-2.sv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5.png"/><Relationship Id="rId8" Type="http://schemas.openxmlformats.org/officeDocument/2006/relationships/image" Target="../media/image-6-6.sv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3-13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1.png"/><Relationship Id="rId4" Type="http://schemas.openxmlformats.org/officeDocument/2006/relationships/image" Target="../media/image-18-2.svg"/><Relationship Id="rId5" Type="http://schemas.openxmlformats.org/officeDocument/2006/relationships/image" Target="../media/image-18-1.png"/><Relationship Id="rId6" Type="http://schemas.openxmlformats.org/officeDocument/2006/relationships/image" Target="../media/image-18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589657"/>
            <a:ext cx="8196114" cy="779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CLASIFICACIÓN DE COSTOS Y SU IMPACTO EN LAS DECISIONES DE MARKETING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73943" y="1606004"/>
            <a:ext cx="585788" cy="180008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/>
        </p:spPr>
      </p:sp>
      <p:sp>
        <p:nvSpPr>
          <p:cNvPr id="4" name="Text 2"/>
          <p:cNvSpPr/>
          <p:nvPr/>
        </p:nvSpPr>
        <p:spPr>
          <a:xfrm>
            <a:off x="545009" y="1641500"/>
            <a:ext cx="900857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SESIÓN 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118964" y="1606004"/>
            <a:ext cx="2064023" cy="180008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0030" y="1641500"/>
            <a:ext cx="2379092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DE COSTOS Y PRESUPUESTOS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88665" y="1919288"/>
            <a:ext cx="4124102" cy="1106984"/>
          </a:xfrm>
          <a:prstGeom prst="roundRect">
            <a:avLst>
              <a:gd name="adj" fmla="val 25689"/>
            </a:avLst>
          </a:prstGeom>
          <a:solidFill>
            <a:srgbClr val="063E5F"/>
          </a:solidFill>
          <a:ln/>
        </p:spPr>
      </p:sp>
      <p:sp>
        <p:nvSpPr>
          <p:cNvPr id="8" name="Text 6"/>
          <p:cNvSpPr/>
          <p:nvPr/>
        </p:nvSpPr>
        <p:spPr>
          <a:xfrm>
            <a:off x="507132" y="2037755"/>
            <a:ext cx="3887167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Programa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132" y="2351038"/>
            <a:ext cx="3887167" cy="485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· 3.er Ciclo · 2026-II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IES "Thomas Jefferson" · Perú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21275" y="2037755"/>
            <a:ext cx="395354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Docente presenta hoy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1275" y="2351038"/>
            <a:ext cx="3953545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Clasificación de costos fijos, variables, directos e indirectos y su aplicación directa en decisiones reales de marketing con el caso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Nova Market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3943" y="3159547"/>
            <a:ext cx="8196114" cy="1394222"/>
          </a:xfrm>
          <a:prstGeom prst="roundRect">
            <a:avLst>
              <a:gd name="adj" fmla="val 1274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8706" y="3164309"/>
            <a:ext cx="4093294" cy="692348"/>
          </a:xfrm>
          <a:custGeom>
            <a:avLst/>
            <a:gdLst/>
            <a:ahLst/>
            <a:cxnLst/>
            <a:rect l="l" t="t" r="r" b="b"/>
            <a:pathLst>
              <a:path w="4093294" h="692348">
                <a:moveTo>
                  <a:pt x="148109" y="0"/>
                </a:moveTo>
                <a:lnTo>
                  <a:pt x="4093294" y="0"/>
                </a:lnTo>
                <a:lnTo>
                  <a:pt x="4093294" y="692348"/>
                </a:lnTo>
                <a:lnTo>
                  <a:pt x="0" y="692348"/>
                </a:lnTo>
                <a:lnTo>
                  <a:pt x="0" y="148109"/>
                </a:lnTo>
                <a:arcTo hR="148109" wR="148109" stAng="10800000" swAng="5400000"/>
                <a:close/>
              </a:path>
            </a:pathLst>
          </a:custGeom>
          <a:solidFill>
            <a:srgbClr val="D4E9F7"/>
          </a:solidFill>
          <a:ln/>
        </p:spPr>
      </p:sp>
      <p:sp>
        <p:nvSpPr>
          <p:cNvPr id="14" name="Text 12"/>
          <p:cNvSpPr/>
          <p:nvPr/>
        </p:nvSpPr>
        <p:spPr>
          <a:xfrm>
            <a:off x="597173" y="3282776"/>
            <a:ext cx="3856360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Teoría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7173" y="3548658"/>
            <a:ext cx="38563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Costo, gasto y pérdida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3164309"/>
            <a:ext cx="4093294" cy="692348"/>
          </a:xfrm>
          <a:custGeom>
            <a:avLst/>
            <a:gdLst/>
            <a:ahLst/>
            <a:cxnLst/>
            <a:rect l="l" t="t" r="r" b="b"/>
            <a:pathLst>
              <a:path w="4093294" h="692348">
                <a:moveTo>
                  <a:pt x="0" y="0"/>
                </a:moveTo>
                <a:lnTo>
                  <a:pt x="3945185" y="0"/>
                </a:lnTo>
                <a:arcTo hR="148109" wR="148109" stAng="16200000" swAng="5400000"/>
                <a:lnTo>
                  <a:pt x="4093294" y="692348"/>
                </a:lnTo>
                <a:lnTo>
                  <a:pt x="0" y="692348"/>
                </a:lnTo>
                <a:lnTo>
                  <a:pt x="0" y="0"/>
                </a:lnTo>
                <a:close/>
              </a:path>
            </a:pathLst>
          </a:custGeom>
          <a:solidFill>
            <a:srgbClr val="D4E9F7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3164309"/>
            <a:ext cx="14288" cy="692348"/>
          </a:xfrm>
          <a:prstGeom prst="roundRect">
            <a:avLst>
              <a:gd name="adj" fmla="val 49998"/>
            </a:avLst>
          </a:prstGeom>
          <a:solidFill>
            <a:srgbClr val="BACFDD"/>
          </a:solidFill>
          <a:ln/>
        </p:spPr>
      </p:sp>
      <p:sp>
        <p:nvSpPr>
          <p:cNvPr id="18" name="Text 16"/>
          <p:cNvSpPr/>
          <p:nvPr/>
        </p:nvSpPr>
        <p:spPr>
          <a:xfrm>
            <a:off x="4690467" y="3282776"/>
            <a:ext cx="3856360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Clasificación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90467" y="3548658"/>
            <a:ext cx="38563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Fijo · Variable · Directo · Indirecto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8706" y="3856658"/>
            <a:ext cx="4093294" cy="692348"/>
          </a:xfrm>
          <a:custGeom>
            <a:avLst/>
            <a:gdLst/>
            <a:ahLst/>
            <a:cxnLst/>
            <a:rect l="l" t="t" r="r" b="b"/>
            <a:pathLst>
              <a:path w="4093294" h="692348">
                <a:moveTo>
                  <a:pt x="0" y="0"/>
                </a:moveTo>
                <a:lnTo>
                  <a:pt x="4093294" y="0"/>
                </a:lnTo>
                <a:lnTo>
                  <a:pt x="4093294" y="692348"/>
                </a:lnTo>
                <a:lnTo>
                  <a:pt x="148109" y="692348"/>
                </a:lnTo>
                <a:arcTo hR="148109" wR="148109" stAng="5400000" swAng="5400000"/>
                <a:lnTo>
                  <a:pt x="0" y="0"/>
                </a:lnTo>
                <a:close/>
              </a:path>
            </a:pathLst>
          </a:custGeom>
          <a:solidFill>
            <a:srgbClr val="D4E9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78706" y="3856658"/>
            <a:ext cx="4093294" cy="14288"/>
          </a:xfrm>
          <a:prstGeom prst="roundRect">
            <a:avLst>
              <a:gd name="adj" fmla="val 49998"/>
            </a:avLst>
          </a:prstGeom>
          <a:solidFill>
            <a:srgbClr val="BACFDD"/>
          </a:solidFill>
          <a:ln/>
        </p:spPr>
      </p:sp>
      <p:sp>
        <p:nvSpPr>
          <p:cNvPr id="22" name="Text 20"/>
          <p:cNvSpPr/>
          <p:nvPr/>
        </p:nvSpPr>
        <p:spPr>
          <a:xfrm>
            <a:off x="597173" y="3975125"/>
            <a:ext cx="3856360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Caso Práctico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7173" y="4241006"/>
            <a:ext cx="38563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Nova Market – actividad en equipo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3856658"/>
            <a:ext cx="4093294" cy="692348"/>
          </a:xfrm>
          <a:custGeom>
            <a:avLst/>
            <a:gdLst/>
            <a:ahLst/>
            <a:cxnLst/>
            <a:rect l="l" t="t" r="r" b="b"/>
            <a:pathLst>
              <a:path w="4093294" h="692348">
                <a:moveTo>
                  <a:pt x="0" y="0"/>
                </a:moveTo>
                <a:lnTo>
                  <a:pt x="4093294" y="0"/>
                </a:lnTo>
                <a:lnTo>
                  <a:pt x="4093294" y="544239"/>
                </a:lnTo>
                <a:arcTo hR="148109" wR="148109" stAng="0" swAng="5400000"/>
                <a:lnTo>
                  <a:pt x="0" y="692348"/>
                </a:lnTo>
                <a:lnTo>
                  <a:pt x="0" y="0"/>
                </a:lnTo>
                <a:close/>
              </a:path>
            </a:pathLst>
          </a:custGeom>
          <a:solidFill>
            <a:srgbClr val="D4E9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3856658"/>
            <a:ext cx="14288" cy="692348"/>
          </a:xfrm>
          <a:prstGeom prst="roundRect">
            <a:avLst>
              <a:gd name="adj" fmla="val 49998"/>
            </a:avLst>
          </a:prstGeom>
          <a:solidFill>
            <a:srgbClr val="BACFD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3856658"/>
            <a:ext cx="4093294" cy="14288"/>
          </a:xfrm>
          <a:prstGeom prst="roundRect">
            <a:avLst>
              <a:gd name="adj" fmla="val 49998"/>
            </a:avLst>
          </a:prstGeom>
          <a:solidFill>
            <a:srgbClr val="BACFDD"/>
          </a:solidFill>
          <a:ln/>
        </p:spPr>
      </p:sp>
      <p:sp>
        <p:nvSpPr>
          <p:cNvPr id="27" name="Text 25"/>
          <p:cNvSpPr/>
          <p:nvPr/>
        </p:nvSpPr>
        <p:spPr>
          <a:xfrm>
            <a:off x="4690467" y="3975125"/>
            <a:ext cx="3856360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90467" y="4241006"/>
            <a:ext cx="38563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¿Conviene la campaña?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989335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¿Qué aprenderemos hoy?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615976"/>
            <a:ext cx="865331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 finalizar la sesión, el estudiante podrá: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3943" y="1938784"/>
            <a:ext cx="266551" cy="266551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3680" y="1955155"/>
            <a:ext cx="187077" cy="233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58962" y="1979488"/>
            <a:ext cx="3638996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Diferenciar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8962" y="2245370"/>
            <a:ext cx="3638996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Costo, gasto y pérdida con ejemplos del mercado peruano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46042" y="1938784"/>
            <a:ext cx="266551" cy="266551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5779" y="1955155"/>
            <a:ext cx="187077" cy="233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31060" y="1979488"/>
            <a:ext cx="3638996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Clasificar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31060" y="2245370"/>
            <a:ext cx="3638996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Costos como fijos y variables según su comportamiento ante el volumen de actividad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3943" y="2861370"/>
            <a:ext cx="266551" cy="266551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680" y="2877741"/>
            <a:ext cx="187077" cy="233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58962" y="2902074"/>
            <a:ext cx="3638996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Identificar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8962" y="3167955"/>
            <a:ext cx="3638996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Costos directos e indirectos en empresas comerciales peruanas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46042" y="2861370"/>
            <a:ext cx="266551" cy="266551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5779" y="2877741"/>
            <a:ext cx="187077" cy="233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031060" y="2902074"/>
            <a:ext cx="3638996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Utilizar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31060" y="3167955"/>
            <a:ext cx="3638996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clasificación para analizar decisiones reales de marketing con criterio profesional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3943" y="3680296"/>
            <a:ext cx="8196114" cy="473869"/>
          </a:xfrm>
          <a:prstGeom prst="roundRect">
            <a:avLst>
              <a:gd name="adj" fmla="val 37506"/>
            </a:avLst>
          </a:prstGeom>
          <a:solidFill>
            <a:srgbClr val="D4E9F7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410" y="3848546"/>
            <a:ext cx="148084" cy="11846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58962" y="3828380"/>
            <a:ext cx="8149828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Pregunta de inicio: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¿Para qué sirve clasificar un costo si somos profesionales de Marketing?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89186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Activación: "¿Dónde se está yendo el dinero?"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015826"/>
            <a:ext cx="865331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tienda peruana vende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80,000 al mes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pero su utilidad es menor de lo esperado. Analicemos sus desembolsos: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1471910"/>
            <a:ext cx="3953545" cy="7683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3848" y="1604665"/>
            <a:ext cx="363088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Alquiler del local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3848" y="1917948"/>
            <a:ext cx="3630885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4,000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mensuales — sin importar cuánto se venda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43" y="2358703"/>
            <a:ext cx="3953545" cy="7683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3848" y="2491457"/>
            <a:ext cx="363088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Mercadería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63848" y="2804740"/>
            <a:ext cx="3630885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30,000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varía según lo que se compra para vender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943" y="3245495"/>
            <a:ext cx="3953545" cy="7683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3848" y="3378250"/>
            <a:ext cx="363088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Publicidad digital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63848" y="3691533"/>
            <a:ext cx="3630885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2,500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inversión mensual en redes y anuncios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1275" y="1471910"/>
            <a:ext cx="3953545" cy="7683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11179" y="1604665"/>
            <a:ext cx="363088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Comisiones a vendedores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911179" y="1917948"/>
            <a:ext cx="3630885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3,000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depende del volumen de ventas del mes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1275" y="2358703"/>
            <a:ext cx="3953545" cy="7683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11179" y="2491457"/>
            <a:ext cx="363088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Delivery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911179" y="2804740"/>
            <a:ext cx="3630885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1,800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crece con cada pedido despachado</a:t>
            </a:r>
            <a:endParaRPr lang="en-US" sz="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21275" y="3245495"/>
            <a:ext cx="3953545" cy="76832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911179" y="3378250"/>
            <a:ext cx="363088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Sueldos administrativos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4911179" y="3691533"/>
            <a:ext cx="3630885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2589C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5,000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fijos cada mes, independiente de ventas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473943" y="4280371"/>
            <a:ext cx="8196114" cy="473869"/>
          </a:xfrm>
          <a:prstGeom prst="roundRect">
            <a:avLst>
              <a:gd name="adj" fmla="val 37506"/>
            </a:avLst>
          </a:prstGeom>
          <a:solidFill>
            <a:srgbClr val="FCF2B5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2410" y="4448621"/>
            <a:ext cx="148084" cy="118467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58962" y="4428455"/>
            <a:ext cx="8149828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¿Todos estos desembolsos se comportan de la misma manera?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Esta es la pregunta central de la sesión de hoy.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842516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Costo, Gasto y Pérdida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469157"/>
            <a:ext cx="865331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Tres conceptos fundamentales que todo profesional de marketing debe distinguir con precisión: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3943" y="1791965"/>
            <a:ext cx="2653010" cy="1730127"/>
          </a:xfrm>
          <a:prstGeom prst="roundRect">
            <a:avLst>
              <a:gd name="adj" fmla="val 10273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7173" y="1915195"/>
            <a:ext cx="2406551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COSTO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7173" y="2190601"/>
            <a:ext cx="2406551" cy="1208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Recurso sacrificado para obtener un </a:t>
            </a:r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beneficio futuro</a:t>
            </a:r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Ejemplo: mercadería comprada para revender. Aún no se ha "gastado" — está en el inventario esperando generar ingresos.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5421" y="1791965"/>
            <a:ext cx="2653085" cy="1730127"/>
          </a:xfrm>
          <a:prstGeom prst="roundRect">
            <a:avLst>
              <a:gd name="adj" fmla="val 10273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8650" y="1915195"/>
            <a:ext cx="2406625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GASTO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68650" y="2190601"/>
            <a:ext cx="2406625" cy="1018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 cuyo beneficio </a:t>
            </a:r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ya fue consumido</a:t>
            </a:r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 el periodo.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Ejemplo: sueldo del administrador del mes. El servicio ya se recibió y el beneficio ya se agotó.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16972" y="1791965"/>
            <a:ext cx="2653010" cy="1730127"/>
          </a:xfrm>
          <a:prstGeom prst="roundRect">
            <a:avLst>
              <a:gd name="adj" fmla="val 10273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0202" y="1915195"/>
            <a:ext cx="2406551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PÉRDIDA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0202" y="2190601"/>
            <a:ext cx="2406551" cy="1018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Desembolso o disminución de recursos </a:t>
            </a:r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sin beneficio compensatorio</a:t>
            </a:r>
            <a:pPr algn="l" indent="0" marL="0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Ejemplo: mercadería vencida o robada. Se sacrificó el recurso pero no se obtuvo ningún ingreso a cambio.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1644" y="3788643"/>
            <a:ext cx="8018413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Regla práctica: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Todo gasto fue un costo, pero no todo costo se convierte en gasto en el mismo periodo. La mercadería comprada hoy es un costo; cuando se vende, se convierte en gasto (costo de ventas).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3943" y="3655368"/>
            <a:ext cx="14288" cy="645616"/>
          </a:xfrm>
          <a:prstGeom prst="roundRect">
            <a:avLst>
              <a:gd name="adj" fmla="val 49998"/>
            </a:avLst>
          </a:prstGeom>
          <a:solidFill>
            <a:srgbClr val="75BAE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37629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El costo puede analizarse desde diferentes ángulos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064270"/>
            <a:ext cx="8196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mismo desembolso puede tener diferentes clasificaciones dependiendo del criterio utilizado y del objetivo del análisis. El análisis es secuencial: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576611"/>
            <a:ext cx="4098057" cy="4739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2410" y="2169021"/>
            <a:ext cx="3861122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DESEMBOLSO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2410" y="2434903"/>
            <a:ext cx="386112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¿Es costo o gasto?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76611"/>
            <a:ext cx="4098057" cy="4739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90467" y="2169021"/>
            <a:ext cx="3861122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¿COSTO O GASTO?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90467" y="2434903"/>
            <a:ext cx="386112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¿Es fijo o variable?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2742902"/>
            <a:ext cx="4098057" cy="4739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2410" y="3335313"/>
            <a:ext cx="3861122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¿FIJO O VARIABLE?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92410" y="3601194"/>
            <a:ext cx="386112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¿Es directo o indirecto?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742902"/>
            <a:ext cx="4098057" cy="4739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90467" y="3335313"/>
            <a:ext cx="3861122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¿DIRECTO O INDIRECTO?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90467" y="3601194"/>
            <a:ext cx="386112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decisión quiero tomar?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473943" y="4042470"/>
            <a:ext cx="8196114" cy="663401"/>
          </a:xfrm>
          <a:prstGeom prst="roundRect">
            <a:avLst>
              <a:gd name="adj" fmla="val 26791"/>
            </a:avLst>
          </a:prstGeom>
          <a:solidFill>
            <a:srgbClr val="D4E9F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10" y="4210720"/>
            <a:ext cx="148084" cy="11846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8962" y="4190554"/>
            <a:ext cx="7692628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Mensaje clave: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Un mismo desembolso puede tener diferentes clasificaciones dependiendo del criterio utilizado y del objetivo del análisis. No existe una única respuesta correcta sin contexto.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38435"/>
            <a:ext cx="8196114" cy="377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Costos Fijos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73943" y="938287"/>
            <a:ext cx="8653314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Permanecen </a:t>
            </a:r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relativamente constantes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dentro de un nivel relevante de actividad, independientemente del volumen de ventas.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1369293"/>
            <a:ext cx="1923455" cy="12892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0127" y="1498327"/>
            <a:ext cx="1608237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Alquiler del local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0127" y="1798290"/>
            <a:ext cx="1608237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4,000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mensuales — igual si se vende 1 o 1,000 unidades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8572" y="1369293"/>
            <a:ext cx="1923455" cy="12892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94756" y="1498327"/>
            <a:ext cx="1608237" cy="377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Sueldo fijo del administrador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2694756" y="1987079"/>
            <a:ext cx="1608237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3,000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mensuales — no depende del nivel de ventas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943" y="2769766"/>
            <a:ext cx="1923455" cy="1108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0127" y="2898800"/>
            <a:ext cx="1608237" cy="377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Licencia mensual de software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60127" y="3387551"/>
            <a:ext cx="1608237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500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tarifa plana independiente del uso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08572" y="2769766"/>
            <a:ext cx="1923455" cy="1108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694756" y="2898800"/>
            <a:ext cx="1608237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Internet empresarial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2694756" y="3198763"/>
            <a:ext cx="1608237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250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servicio contratado a precio fijo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473943" y="4003328"/>
            <a:ext cx="3958084" cy="618976"/>
          </a:xfrm>
          <a:prstGeom prst="roundRect">
            <a:avLst>
              <a:gd name="adj" fmla="val 27816"/>
            </a:avLst>
          </a:prstGeom>
          <a:solidFill>
            <a:srgbClr val="D4E9F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690" y="4171280"/>
            <a:ext cx="143470" cy="11474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6906" y="4131990"/>
            <a:ext cx="3470374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Pregunta para el aula: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 vendo 100 productos o 200 productos este mes, ¿el alquiler cambia?</a:t>
            </a:r>
            <a:endParaRPr lang="en-US" sz="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6735" y="1369293"/>
            <a:ext cx="3958084" cy="284901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716735" y="4343400"/>
            <a:ext cx="3958084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costo fijo total </a:t>
            </a:r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cambia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aunque aumenten las unidades vendidas. La línea es completamente horizontal.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39105"/>
            <a:ext cx="8196114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Costos Variables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73943" y="788194"/>
            <a:ext cx="8653314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Cambian </a:t>
            </a:r>
            <a:pPr algn="l" indent="0" marL="0">
              <a:lnSpc>
                <a:spcPct val="119000"/>
              </a:lnSpc>
              <a:buNone/>
            </a:pP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 función del volumen</a:t>
            </a:r>
            <a:pPr algn="l" indent="0" marL="0">
              <a:lnSpc>
                <a:spcPct val="119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actividad, producción o ventas. A más ventas, mayor costo variable total.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1082725"/>
            <a:ext cx="1956420" cy="6922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4065" y="1184746"/>
            <a:ext cx="171427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Comisión por venta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14065" y="1409254"/>
            <a:ext cx="1714277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5.00</a:t>
            </a:r>
            <a:pPr algn="l" indent="0" marL="0">
              <a:lnSpc>
                <a:spcPct val="119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por cada unidad vendida</a:t>
            </a:r>
            <a:endParaRPr lang="en-US" sz="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2619" y="1082725"/>
            <a:ext cx="1956495" cy="6922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42741" y="1184746"/>
            <a:ext cx="1714351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Empaque por producto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2642741" y="1409254"/>
            <a:ext cx="1714351" cy="26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 por cada unidad despachada al cliente</a:t>
            </a:r>
            <a:endParaRPr lang="en-US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943" y="1847255"/>
            <a:ext cx="1956420" cy="69227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4065" y="1949276"/>
            <a:ext cx="171427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Delivery por pedido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614065" y="2173784"/>
            <a:ext cx="1714277" cy="26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Solo se incurre cuando hay un despacho real</a:t>
            </a:r>
            <a:endParaRPr lang="en-US" sz="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02619" y="1847255"/>
            <a:ext cx="1956495" cy="69227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642741" y="1949276"/>
            <a:ext cx="1714351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Material por unidad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2642741" y="2173784"/>
            <a:ext cx="1714351" cy="26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Crece exactamente con cada unidad producida o vendida</a:t>
            </a:r>
            <a:endParaRPr lang="en-US" sz="700" dirty="0"/>
          </a:p>
        </p:txBody>
      </p:sp>
      <p:sp>
        <p:nvSpPr>
          <p:cNvPr id="16" name="Text 10"/>
          <p:cNvSpPr/>
          <p:nvPr/>
        </p:nvSpPr>
        <p:spPr>
          <a:xfrm>
            <a:off x="473943" y="2667074"/>
            <a:ext cx="3985171" cy="305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S/500</a:t>
            </a:r>
            <a:endParaRPr lang="en-US" sz="2400" dirty="0"/>
          </a:p>
        </p:txBody>
      </p:sp>
      <p:sp>
        <p:nvSpPr>
          <p:cNvPr id="17" name="Text 11"/>
          <p:cNvSpPr/>
          <p:nvPr/>
        </p:nvSpPr>
        <p:spPr>
          <a:xfrm>
            <a:off x="473943" y="3072929"/>
            <a:ext cx="3985171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100 ventas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73943" y="3415978"/>
            <a:ext cx="3985171" cy="305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S/1,000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473943" y="3821832"/>
            <a:ext cx="3985171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200 ventas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473943" y="4164881"/>
            <a:ext cx="3985171" cy="305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S/2,500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473943" y="4570735"/>
            <a:ext cx="3985171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500 ventas</a:t>
            </a:r>
            <a:endParaRPr lang="en-US" sz="9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9649" y="1082725"/>
            <a:ext cx="3985171" cy="286851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89649" y="4032572"/>
            <a:ext cx="3985171" cy="26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costo variable crece </a:t>
            </a:r>
            <a:pPr algn="l" indent="0" marL="0">
              <a:lnSpc>
                <a:spcPct val="119000"/>
              </a:lnSpc>
              <a:buNone/>
            </a:pP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proporcionalmente</a:t>
            </a:r>
            <a:pPr algn="l" indent="0" marL="0">
              <a:lnSpc>
                <a:spcPct val="119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las unidades vendidas. La línea sube de forma constante.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652537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Fijo vs. Variable: Comparación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388665" y="1219944"/>
            <a:ext cx="4124102" cy="1403152"/>
          </a:xfrm>
          <a:prstGeom prst="roundRect">
            <a:avLst>
              <a:gd name="adj" fmla="val 20266"/>
            </a:avLst>
          </a:prstGeom>
          <a:solidFill>
            <a:srgbClr val="063E5F"/>
          </a:solidFill>
          <a:ln/>
        </p:spPr>
      </p:sp>
      <p:sp>
        <p:nvSpPr>
          <p:cNvPr id="4" name="Text 2"/>
          <p:cNvSpPr/>
          <p:nvPr/>
        </p:nvSpPr>
        <p:spPr>
          <a:xfrm>
            <a:off x="507132" y="1338411"/>
            <a:ext cx="3887167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Regla clave — FIJO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132" y="1651695"/>
            <a:ext cx="3887167" cy="864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cambia directamente con cada unidad vendida. El </a:t>
            </a:r>
            <a:pPr algn="l" indent="0" marL="0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total permanece igual</a:t>
            </a:r>
            <a:pPr algn="l" indent="0" marL="0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dentro del rango relevante de actividad.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costo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por unidad disminuye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medida que se vende más, porque se distribuye entre más unidades.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21275" y="1338411"/>
            <a:ext cx="395354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Regla clave — VARIABLE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1275" y="1651695"/>
            <a:ext cx="3953545" cy="675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Cambia con el nivel de actividad. A más ventas, </a:t>
            </a:r>
            <a:pPr algn="l" indent="0" marL="0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mayor costo total</a:t>
            </a:r>
            <a:pPr algn="l" indent="0" marL="0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costo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por unidad permanece constante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pero el total crece proporcionalmente con el volumen.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3943" y="2756371"/>
            <a:ext cx="8196114" cy="1734517"/>
          </a:xfrm>
          <a:prstGeom prst="roundRect">
            <a:avLst>
              <a:gd name="adj" fmla="val 1024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943" y="3104704"/>
            <a:ext cx="8196114" cy="74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73943" y="3450654"/>
            <a:ext cx="8196114" cy="74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3943" y="3796605"/>
            <a:ext cx="8196114" cy="74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73943" y="4142556"/>
            <a:ext cx="8196114" cy="74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78706" y="2761134"/>
            <a:ext cx="4093294" cy="343570"/>
          </a:xfrm>
          <a:custGeom>
            <a:avLst/>
            <a:gdLst/>
            <a:ahLst/>
            <a:cxnLst/>
            <a:rect l="l" t="t" r="r" b="b"/>
            <a:pathLst>
              <a:path w="4093294" h="343570">
                <a:moveTo>
                  <a:pt x="148109" y="0"/>
                </a:moveTo>
                <a:lnTo>
                  <a:pt x="4093294" y="0"/>
                </a:lnTo>
                <a:lnTo>
                  <a:pt x="4093294" y="343570"/>
                </a:lnTo>
                <a:lnTo>
                  <a:pt x="0" y="343570"/>
                </a:lnTo>
                <a:lnTo>
                  <a:pt x="0" y="148109"/>
                </a:lnTo>
                <a:arcTo hR="148109" wR="148109" stAng="10800000" swAng="5400000"/>
                <a:close/>
              </a:path>
            </a:pathLst>
          </a:custGeom>
          <a:solidFill>
            <a:srgbClr val="2589C9"/>
          </a:solidFill>
          <a:ln/>
        </p:spPr>
      </p:sp>
      <p:sp>
        <p:nvSpPr>
          <p:cNvPr id="14" name="Text 12"/>
          <p:cNvSpPr/>
          <p:nvPr/>
        </p:nvSpPr>
        <p:spPr>
          <a:xfrm>
            <a:off x="597173" y="2836962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Costo Fijo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761134"/>
            <a:ext cx="4093294" cy="343570"/>
          </a:xfrm>
          <a:custGeom>
            <a:avLst/>
            <a:gdLst/>
            <a:ahLst/>
            <a:cxnLst/>
            <a:rect l="l" t="t" r="r" b="b"/>
            <a:pathLst>
              <a:path w="4093294" h="343570">
                <a:moveTo>
                  <a:pt x="0" y="0"/>
                </a:moveTo>
                <a:lnTo>
                  <a:pt x="3945185" y="0"/>
                </a:lnTo>
                <a:arcTo hR="148109" wR="148109" stAng="16200000" swAng="5400000"/>
                <a:lnTo>
                  <a:pt x="4093294" y="343570"/>
                </a:lnTo>
                <a:lnTo>
                  <a:pt x="0" y="343570"/>
                </a:lnTo>
                <a:lnTo>
                  <a:pt x="0" y="0"/>
                </a:lnTo>
                <a:close/>
              </a:path>
            </a:pathLst>
          </a:custGeom>
          <a:solidFill>
            <a:srgbClr val="063E5F"/>
          </a:solidFill>
          <a:ln/>
        </p:spPr>
      </p:sp>
      <p:sp>
        <p:nvSpPr>
          <p:cNvPr id="16" name="Text 14"/>
          <p:cNvSpPr/>
          <p:nvPr/>
        </p:nvSpPr>
        <p:spPr>
          <a:xfrm>
            <a:off x="4690467" y="2836962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Costo Variable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7173" y="3182913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Alquiler del local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0467" y="3182913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Comisión por venta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7173" y="3528864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Sueldo fijo del administrador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90467" y="3528864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Empaque por unidad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7173" y="3874815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Licencia mensual de software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90467" y="3874815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 por pedido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7173" y="4220766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Internet empresarial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0467" y="4220766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por unidad vendida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944166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Costos Directos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570806"/>
            <a:ext cx="865331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Pueden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identificarse razonablemente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un producto, servicio o actividad específica sin necesidad de distribuirlos entre varios.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1893615"/>
            <a:ext cx="296168" cy="296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8195" y="1893615"/>
            <a:ext cx="357976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Empaque específico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8195" y="2159496"/>
            <a:ext cx="3579763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costo del empaque de un producto determinado se puede asignar directamente a ese producto sin repartirlo.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6042" y="1893615"/>
            <a:ext cx="296168" cy="296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90294" y="1893615"/>
            <a:ext cx="357976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Comisión por venta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90294" y="2159496"/>
            <a:ext cx="3579763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comisión asociada a una venta concreta se identifica directamente con esa transacción específica.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943" y="2775496"/>
            <a:ext cx="296168" cy="296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8195" y="2775496"/>
            <a:ext cx="357976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Material por unidad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18195" y="3041377"/>
            <a:ext cx="3579763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material utilizado para fabricar o preparar un producto se puede rastrear directamente a ese producto.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6042" y="2775496"/>
            <a:ext cx="296168" cy="296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90294" y="2775496"/>
            <a:ext cx="357976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Delivery por pedido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090294" y="3041377"/>
            <a:ext cx="3579763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costo de envío asociado a un pedido específico se asigna directamente a ese pedido, no a otros.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651644" y="3686994"/>
            <a:ext cx="8018413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Pregunta clave: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¿Puedo identificar cuánto de este costo corresponde directamente a este producto o servicio? Si la respuesta es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sí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es un costo directo.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473943" y="3553718"/>
            <a:ext cx="14288" cy="645616"/>
          </a:xfrm>
          <a:prstGeom prst="roundRect">
            <a:avLst>
              <a:gd name="adj" fmla="val 49998"/>
            </a:avLst>
          </a:prstGeom>
          <a:solidFill>
            <a:srgbClr val="75BAE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54633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Costos Indirectos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381274"/>
            <a:ext cx="8196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pueden identificarse fácilmente con un único producto o servicio.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Benefician a varios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deben distribuirse usando algún criterio de asignación.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1893615"/>
            <a:ext cx="296168" cy="296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8195" y="1893615"/>
            <a:ext cx="357976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Alquiler del local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8195" y="2159496"/>
            <a:ext cx="3579763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Beneficia a todos los productos que se venden en el local. No se puede asignar a uno solo sin un criterio de distribución.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6042" y="1893615"/>
            <a:ext cx="296168" cy="296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90294" y="1893615"/>
            <a:ext cx="357976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Servicios generales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90294" y="2159496"/>
            <a:ext cx="3579763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Agua, luz y limpieza benefician a toda la operación simultáneamente. Deben distribuirse entre todos los productos.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943" y="2965028"/>
            <a:ext cx="296168" cy="296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8195" y="2965028"/>
            <a:ext cx="357976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Sueldo del administrador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18195" y="3230910"/>
            <a:ext cx="3579763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administrador gestiona toda la empresa, no un producto específico. Su costo es compartido por toda la operación.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6042" y="2965028"/>
            <a:ext cx="296168" cy="296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90294" y="2965028"/>
            <a:ext cx="357976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Seguridad del establecimiento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090294" y="3230910"/>
            <a:ext cx="3579763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Protege todo el local y todos los productos. No puede asignarse a un solo artículo sin criterio de reparto.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651644" y="3876526"/>
            <a:ext cx="8018413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Pregunta clave: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¿Este costo beneficia a un solo producto o a varios a la vez? Si beneficia a varios → es un costo indirecto y debe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distribuirse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473943" y="3743251"/>
            <a:ext cx="14288" cy="645616"/>
          </a:xfrm>
          <a:prstGeom prst="roundRect">
            <a:avLst>
              <a:gd name="adj" fmla="val 49998"/>
            </a:avLst>
          </a:prstGeom>
          <a:solidFill>
            <a:srgbClr val="75BAE6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97086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Directo vs. Indirecto: Comparación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388665" y="1064493"/>
            <a:ext cx="4124102" cy="1106984"/>
          </a:xfrm>
          <a:prstGeom prst="roundRect">
            <a:avLst>
              <a:gd name="adj" fmla="val 25689"/>
            </a:avLst>
          </a:prstGeom>
          <a:solidFill>
            <a:srgbClr val="063E5F"/>
          </a:solidFill>
          <a:ln/>
        </p:spPr>
      </p:sp>
      <p:sp>
        <p:nvSpPr>
          <p:cNvPr id="4" name="Text 2"/>
          <p:cNvSpPr/>
          <p:nvPr/>
        </p:nvSpPr>
        <p:spPr>
          <a:xfrm>
            <a:off x="507132" y="1182960"/>
            <a:ext cx="3887167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DIRECTO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132" y="1496244"/>
            <a:ext cx="3887167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puede asociar directamente con un producto, servicio o actividad específica.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requiere distribución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el vínculo es claro y rastreable.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21275" y="1182960"/>
            <a:ext cx="395354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INDIRECTO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1275" y="1496244"/>
            <a:ext cx="3953545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Beneficia a varios productos, servicios o actividades simultáneamente.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Requiere un criterio de distribución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asignarlo correctamente.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3943" y="2304752"/>
            <a:ext cx="8196114" cy="1734517"/>
          </a:xfrm>
          <a:prstGeom prst="roundRect">
            <a:avLst>
              <a:gd name="adj" fmla="val 1024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943" y="2653085"/>
            <a:ext cx="8196114" cy="74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73943" y="2999036"/>
            <a:ext cx="8196114" cy="74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3943" y="3344987"/>
            <a:ext cx="8196114" cy="74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73943" y="3690938"/>
            <a:ext cx="8196114" cy="74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78706" y="2309515"/>
            <a:ext cx="4093294" cy="343570"/>
          </a:xfrm>
          <a:custGeom>
            <a:avLst/>
            <a:gdLst/>
            <a:ahLst/>
            <a:cxnLst/>
            <a:rect l="l" t="t" r="r" b="b"/>
            <a:pathLst>
              <a:path w="4093294" h="343570">
                <a:moveTo>
                  <a:pt x="148109" y="0"/>
                </a:moveTo>
                <a:lnTo>
                  <a:pt x="4093294" y="0"/>
                </a:lnTo>
                <a:lnTo>
                  <a:pt x="4093294" y="343570"/>
                </a:lnTo>
                <a:lnTo>
                  <a:pt x="0" y="343570"/>
                </a:lnTo>
                <a:lnTo>
                  <a:pt x="0" y="148109"/>
                </a:lnTo>
                <a:arcTo hR="148109" wR="148109" stAng="10800000" swAng="5400000"/>
                <a:close/>
              </a:path>
            </a:pathLst>
          </a:custGeom>
          <a:solidFill>
            <a:srgbClr val="2589C9"/>
          </a:solidFill>
          <a:ln/>
        </p:spPr>
      </p:sp>
      <p:sp>
        <p:nvSpPr>
          <p:cNvPr id="14" name="Text 12"/>
          <p:cNvSpPr/>
          <p:nvPr/>
        </p:nvSpPr>
        <p:spPr>
          <a:xfrm>
            <a:off x="597173" y="2385343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Costo Directo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309515"/>
            <a:ext cx="4093294" cy="343570"/>
          </a:xfrm>
          <a:custGeom>
            <a:avLst/>
            <a:gdLst/>
            <a:ahLst/>
            <a:cxnLst/>
            <a:rect l="l" t="t" r="r" b="b"/>
            <a:pathLst>
              <a:path w="4093294" h="343570">
                <a:moveTo>
                  <a:pt x="0" y="0"/>
                </a:moveTo>
                <a:lnTo>
                  <a:pt x="3945185" y="0"/>
                </a:lnTo>
                <a:arcTo hR="148109" wR="148109" stAng="16200000" swAng="5400000"/>
                <a:lnTo>
                  <a:pt x="4093294" y="343570"/>
                </a:lnTo>
                <a:lnTo>
                  <a:pt x="0" y="343570"/>
                </a:lnTo>
                <a:lnTo>
                  <a:pt x="0" y="0"/>
                </a:lnTo>
                <a:close/>
              </a:path>
            </a:pathLst>
          </a:custGeom>
          <a:solidFill>
            <a:srgbClr val="063E5F"/>
          </a:solidFill>
          <a:ln/>
        </p:spPr>
      </p:sp>
      <p:sp>
        <p:nvSpPr>
          <p:cNvPr id="16" name="Text 14"/>
          <p:cNvSpPr/>
          <p:nvPr/>
        </p:nvSpPr>
        <p:spPr>
          <a:xfrm>
            <a:off x="4690467" y="2385343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Costo Indirecto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7173" y="2731294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Comisión por venta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0467" y="2731294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Alquiler del local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7173" y="3077245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Empaque por unidad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90467" y="3077245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Sueldo del administrador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7173" y="3423196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 por pedido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90467" y="3423196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Servicios generales (agua, luz)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7173" y="3769147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por producto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0467" y="3769147"/>
            <a:ext cx="431356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 y limpieza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3943" y="4172545"/>
            <a:ext cx="8196114" cy="473869"/>
          </a:xfrm>
          <a:prstGeom prst="roundRect">
            <a:avLst>
              <a:gd name="adj" fmla="val 37506"/>
            </a:avLst>
          </a:prstGeom>
          <a:solidFill>
            <a:srgbClr val="D4E9F7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410" y="4340796"/>
            <a:ext cx="148084" cy="11846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58962" y="4320629"/>
            <a:ext cx="8149828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Pregunta de verificación: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¿El costo es identificable directamente con aquello que quiero analizar? Si sí → directo. Si no → indirecto.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99765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Tabla de Clasificación de Costos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126406"/>
            <a:ext cx="865331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Aplicando los criterios aprendidos a los desembolsos típicos de una empresa comercial peruana como Nova Market: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3943" y="1449214"/>
            <a:ext cx="8196114" cy="2397844"/>
          </a:xfrm>
          <a:prstGeom prst="roundRect">
            <a:avLst>
              <a:gd name="adj" fmla="val 741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8706" y="1453976"/>
            <a:ext cx="8185770" cy="3411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79524" y="1453976"/>
            <a:ext cx="2728317" cy="341188"/>
          </a:xfrm>
          <a:custGeom>
            <a:avLst/>
            <a:gdLst/>
            <a:ahLst/>
            <a:cxnLst/>
            <a:rect l="l" t="t" r="r" b="b"/>
            <a:pathLst>
              <a:path w="2728317" h="341188">
                <a:moveTo>
                  <a:pt x="148109" y="0"/>
                </a:moveTo>
                <a:lnTo>
                  <a:pt x="2728317" y="0"/>
                </a:lnTo>
                <a:lnTo>
                  <a:pt x="2728317" y="341188"/>
                </a:lnTo>
                <a:lnTo>
                  <a:pt x="0" y="341188"/>
                </a:lnTo>
                <a:lnTo>
                  <a:pt x="0" y="148109"/>
                </a:lnTo>
                <a:arcTo hR="148109" wR="148109" stAng="10800000" swAng="5400000"/>
                <a:close/>
              </a:path>
            </a:pathLst>
          </a:custGeom>
          <a:solidFill>
            <a:srgbClr val="2589C9"/>
          </a:solidFill>
          <a:ln/>
        </p:spPr>
      </p:sp>
      <p:sp>
        <p:nvSpPr>
          <p:cNvPr id="7" name="Text 5"/>
          <p:cNvSpPr/>
          <p:nvPr/>
        </p:nvSpPr>
        <p:spPr>
          <a:xfrm>
            <a:off x="597991" y="1529804"/>
            <a:ext cx="294620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Desembolso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7841" y="1453976"/>
            <a:ext cx="2728317" cy="341188"/>
          </a:xfrm>
          <a:prstGeom prst="rect">
            <a:avLst/>
          </a:prstGeom>
          <a:solidFill>
            <a:srgbClr val="2589C9"/>
          </a:solidFill>
          <a:ln/>
        </p:spPr>
      </p:sp>
      <p:sp>
        <p:nvSpPr>
          <p:cNvPr id="9" name="Text 7"/>
          <p:cNvSpPr/>
          <p:nvPr/>
        </p:nvSpPr>
        <p:spPr>
          <a:xfrm>
            <a:off x="3328690" y="1529804"/>
            <a:ext cx="294382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Fijo / Variable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36159" y="1453976"/>
            <a:ext cx="2728317" cy="341188"/>
          </a:xfrm>
          <a:custGeom>
            <a:avLst/>
            <a:gdLst/>
            <a:ahLst/>
            <a:cxnLst/>
            <a:rect l="l" t="t" r="r" b="b"/>
            <a:pathLst>
              <a:path w="2728317" h="341188">
                <a:moveTo>
                  <a:pt x="0" y="0"/>
                </a:moveTo>
                <a:lnTo>
                  <a:pt x="2580208" y="0"/>
                </a:lnTo>
                <a:arcTo hR="148109" wR="148109" stAng="16200000" swAng="5400000"/>
                <a:lnTo>
                  <a:pt x="2728317" y="341188"/>
                </a:lnTo>
                <a:lnTo>
                  <a:pt x="0" y="341188"/>
                </a:lnTo>
                <a:lnTo>
                  <a:pt x="0" y="0"/>
                </a:lnTo>
                <a:close/>
              </a:path>
            </a:pathLst>
          </a:custGeom>
          <a:solidFill>
            <a:srgbClr val="2589C9"/>
          </a:solidFill>
          <a:ln/>
        </p:spPr>
      </p:sp>
      <p:sp>
        <p:nvSpPr>
          <p:cNvPr id="11" name="Text 9"/>
          <p:cNvSpPr/>
          <p:nvPr/>
        </p:nvSpPr>
        <p:spPr>
          <a:xfrm>
            <a:off x="6057007" y="1529804"/>
            <a:ext cx="294620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Directo / Indirecto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8706" y="1795165"/>
            <a:ext cx="8185770" cy="34118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7991" y="1870993"/>
            <a:ext cx="294620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Alquiler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28690" y="1870993"/>
            <a:ext cx="294382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Fijo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57007" y="1870993"/>
            <a:ext cx="294620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Indirecto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8706" y="2136353"/>
            <a:ext cx="8185770" cy="3411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97991" y="2212181"/>
            <a:ext cx="294620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Comisión por venta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28690" y="2212181"/>
            <a:ext cx="294382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Variable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57007" y="2212181"/>
            <a:ext cx="294620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8706" y="2477542"/>
            <a:ext cx="8185770" cy="34118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97991" y="2553370"/>
            <a:ext cx="294620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Empaque por unidad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28690" y="2553370"/>
            <a:ext cx="294382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Variable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57007" y="2553370"/>
            <a:ext cx="294620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8706" y="2818730"/>
            <a:ext cx="8185770" cy="3411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97991" y="2894558"/>
            <a:ext cx="294620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Sueldo administrador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28690" y="2894558"/>
            <a:ext cx="294382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Fijo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57007" y="2894558"/>
            <a:ext cx="294620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Indirecto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8706" y="3159919"/>
            <a:ext cx="8185770" cy="34118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97991" y="3235747"/>
            <a:ext cx="294620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 por pedido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28690" y="3235747"/>
            <a:ext cx="294382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Variable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57007" y="3235747"/>
            <a:ext cx="294620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8706" y="3501107"/>
            <a:ext cx="8185770" cy="3411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97991" y="3576935"/>
            <a:ext cx="294620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Publicidad mensual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28690" y="3576935"/>
            <a:ext cx="294382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Fijo *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57007" y="3576935"/>
            <a:ext cx="2946202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Indirecto *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3943" y="3980334"/>
            <a:ext cx="8196114" cy="663401"/>
          </a:xfrm>
          <a:prstGeom prst="roundRect">
            <a:avLst>
              <a:gd name="adj" fmla="val 26791"/>
            </a:avLst>
          </a:prstGeom>
          <a:solidFill>
            <a:srgbClr val="B6D6FC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410" y="4148584"/>
            <a:ext cx="148084" cy="118467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58962" y="4128418"/>
            <a:ext cx="7692628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Nota importante: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 clasificación puede depender de las características concretas de la empresa y del objetivo del análisis. El asterisco (*) indica que la publicidad puede ser variable si se contrata por campaña o por resultado.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27918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RETO: Clasifiquemos los Costos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73943" y="1356940"/>
            <a:ext cx="1315269" cy="180008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/>
        </p:spPr>
      </p:sp>
      <p:sp>
        <p:nvSpPr>
          <p:cNvPr id="4" name="Text 2"/>
          <p:cNvSpPr/>
          <p:nvPr/>
        </p:nvSpPr>
        <p:spPr>
          <a:xfrm>
            <a:off x="545009" y="1392436"/>
            <a:ext cx="1630338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ACTIVIDAD EN EQUIPOS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48445" y="1354559"/>
            <a:ext cx="887090" cy="184770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19511" y="1390055"/>
            <a:ext cx="1202159" cy="113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⏱</a:t>
            </a:r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20 MINUTOS</a:t>
            </a:r>
            <a:endParaRPr lang="en-US" sz="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1711077"/>
            <a:ext cx="118467" cy="11846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3943" y="1859682"/>
            <a:ext cx="2653010" cy="14288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9" name="Text 6"/>
          <p:cNvSpPr/>
          <p:nvPr/>
        </p:nvSpPr>
        <p:spPr>
          <a:xfrm>
            <a:off x="473943" y="1947490"/>
            <a:ext cx="2653010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Formen equipos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3943" y="2213372"/>
            <a:ext cx="2653010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Máximo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 integrantes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por equipo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5421" y="1711077"/>
            <a:ext cx="118467" cy="11846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45421" y="1859682"/>
            <a:ext cx="2653085" cy="14288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13" name="Text 9"/>
          <p:cNvSpPr/>
          <p:nvPr/>
        </p:nvSpPr>
        <p:spPr>
          <a:xfrm>
            <a:off x="3245421" y="1947490"/>
            <a:ext cx="265308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Analicen el caso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45421" y="2213372"/>
            <a:ext cx="2653085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Revisen los desembolsos mensuales de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Nova Market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6972" y="1711077"/>
            <a:ext cx="118467" cy="11846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016972" y="1859682"/>
            <a:ext cx="2653010" cy="14288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17" name="Text 12"/>
          <p:cNvSpPr/>
          <p:nvPr/>
        </p:nvSpPr>
        <p:spPr>
          <a:xfrm>
            <a:off x="6016972" y="1947490"/>
            <a:ext cx="2653010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Clasifiquen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016972" y="2213372"/>
            <a:ext cx="2653010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desembolso según los criterios aprendidos en la sesión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943" y="2814563"/>
            <a:ext cx="118467" cy="11846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73943" y="2975000"/>
            <a:ext cx="4038749" cy="14288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21" name="Text 15"/>
          <p:cNvSpPr/>
          <p:nvPr/>
        </p:nvSpPr>
        <p:spPr>
          <a:xfrm>
            <a:off x="473943" y="3074640"/>
            <a:ext cx="4038749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Justifiquen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3943" y="3340522"/>
            <a:ext cx="4038749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 respuestas con argumentos sólidos, no solo marcando una alternativa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1159" y="2814563"/>
            <a:ext cx="118467" cy="118467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631159" y="2986832"/>
            <a:ext cx="4038823" cy="14288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25" name="Text 18"/>
          <p:cNvSpPr/>
          <p:nvPr/>
        </p:nvSpPr>
        <p:spPr>
          <a:xfrm>
            <a:off x="4631159" y="3074640"/>
            <a:ext cx="403882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Identifiquen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631159" y="3340522"/>
            <a:ext cx="4038823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¿Cuáles costos cambiarían si aumentan las ventas?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473943" y="3918049"/>
            <a:ext cx="8196114" cy="473869"/>
          </a:xfrm>
          <a:prstGeom prst="roundRect">
            <a:avLst>
              <a:gd name="adj" fmla="val 37506"/>
            </a:avLst>
          </a:prstGeom>
          <a:solidFill>
            <a:srgbClr val="FCF2B5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410" y="4086299"/>
            <a:ext cx="148084" cy="11846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58962" y="4089797"/>
            <a:ext cx="8149828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⏱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Tiempo de trabajo: 20 minutos.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Al finalizar, cada equipo presentará sus conclusiones al grupo.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25785"/>
            <a:ext cx="819611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Caso Práctico: Nova Market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73943" y="579834"/>
            <a:ext cx="869975" cy="89892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/>
        </p:spPr>
      </p:sp>
      <p:sp>
        <p:nvSpPr>
          <p:cNvPr id="4" name="Text 2"/>
          <p:cNvSpPr/>
          <p:nvPr/>
        </p:nvSpPr>
        <p:spPr>
          <a:xfrm>
            <a:off x="509439" y="597545"/>
            <a:ext cx="1256184" cy="54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EMPRESA COMERCIAL PERUANA</a:t>
            </a:r>
            <a:endParaRPr lang="en-US" sz="350" dirty="0"/>
          </a:p>
        </p:txBody>
      </p:sp>
      <p:sp>
        <p:nvSpPr>
          <p:cNvPr id="5" name="Text 3"/>
          <p:cNvSpPr/>
          <p:nvPr/>
        </p:nvSpPr>
        <p:spPr>
          <a:xfrm>
            <a:off x="473943" y="702990"/>
            <a:ext cx="8653314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Nova Market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 una empresa comercial peruana con ventas mensuales de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80,000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A continuación se presentan sus desembolsos mensuales para el análisis:</a:t>
            </a:r>
            <a:endParaRPr lang="en-US" sz="450" dirty="0"/>
          </a:p>
        </p:txBody>
      </p:sp>
      <p:sp>
        <p:nvSpPr>
          <p:cNvPr id="6" name="Shape 4"/>
          <p:cNvSpPr/>
          <p:nvPr/>
        </p:nvSpPr>
        <p:spPr>
          <a:xfrm>
            <a:off x="473943" y="807318"/>
            <a:ext cx="8196114" cy="1169640"/>
          </a:xfrm>
          <a:prstGeom prst="roundRect">
            <a:avLst>
              <a:gd name="adj" fmla="val 759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8706" y="812081"/>
            <a:ext cx="8186589" cy="1160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8706" y="812081"/>
            <a:ext cx="4093294" cy="116012"/>
          </a:xfrm>
          <a:custGeom>
            <a:avLst/>
            <a:gdLst/>
            <a:ahLst/>
            <a:cxnLst/>
            <a:rect l="l" t="t" r="r" b="b"/>
            <a:pathLst>
              <a:path w="4093294" h="116012">
                <a:moveTo>
                  <a:pt x="58006" y="0"/>
                </a:moveTo>
                <a:lnTo>
                  <a:pt x="4093294" y="0"/>
                </a:lnTo>
                <a:lnTo>
                  <a:pt x="4093294" y="116012"/>
                </a:lnTo>
                <a:lnTo>
                  <a:pt x="0" y="116012"/>
                </a:lnTo>
                <a:lnTo>
                  <a:pt x="0" y="58006"/>
                </a:lnTo>
                <a:arcTo hR="58006" wR="58006" stAng="10800000" swAng="5400000"/>
                <a:close/>
              </a:path>
            </a:pathLst>
          </a:custGeom>
          <a:solidFill>
            <a:srgbClr val="2589C9"/>
          </a:solidFill>
          <a:ln/>
        </p:spPr>
      </p:sp>
      <p:sp>
        <p:nvSpPr>
          <p:cNvPr id="9" name="Text 7"/>
          <p:cNvSpPr/>
          <p:nvPr/>
        </p:nvSpPr>
        <p:spPr>
          <a:xfrm>
            <a:off x="537939" y="834554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Concepto</a:t>
            </a:r>
            <a:endParaRPr lang="en-US" sz="450" dirty="0"/>
          </a:p>
        </p:txBody>
      </p:sp>
      <p:sp>
        <p:nvSpPr>
          <p:cNvPr id="10" name="Shape 8"/>
          <p:cNvSpPr/>
          <p:nvPr/>
        </p:nvSpPr>
        <p:spPr>
          <a:xfrm>
            <a:off x="4572000" y="812081"/>
            <a:ext cx="4093294" cy="116012"/>
          </a:xfrm>
          <a:custGeom>
            <a:avLst/>
            <a:gdLst/>
            <a:ahLst/>
            <a:cxnLst/>
            <a:rect l="l" t="t" r="r" b="b"/>
            <a:pathLst>
              <a:path w="4093294" h="116012">
                <a:moveTo>
                  <a:pt x="0" y="0"/>
                </a:moveTo>
                <a:lnTo>
                  <a:pt x="4035289" y="0"/>
                </a:lnTo>
                <a:arcTo hR="58006" wR="58006" stAng="16200000" swAng="5400000"/>
                <a:lnTo>
                  <a:pt x="4093294" y="116012"/>
                </a:lnTo>
                <a:lnTo>
                  <a:pt x="0" y="116012"/>
                </a:lnTo>
                <a:lnTo>
                  <a:pt x="0" y="0"/>
                </a:lnTo>
                <a:close/>
              </a:path>
            </a:pathLst>
          </a:custGeom>
          <a:solidFill>
            <a:srgbClr val="2589C9"/>
          </a:solidFill>
          <a:ln/>
        </p:spPr>
      </p:sp>
      <p:sp>
        <p:nvSpPr>
          <p:cNvPr id="11" name="Text 9"/>
          <p:cNvSpPr/>
          <p:nvPr/>
        </p:nvSpPr>
        <p:spPr>
          <a:xfrm>
            <a:off x="4633615" y="834554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Monto mensual</a:t>
            </a:r>
            <a:endParaRPr lang="en-US" sz="450" dirty="0"/>
          </a:p>
        </p:txBody>
      </p:sp>
      <p:sp>
        <p:nvSpPr>
          <p:cNvPr id="12" name="Shape 10"/>
          <p:cNvSpPr/>
          <p:nvPr/>
        </p:nvSpPr>
        <p:spPr>
          <a:xfrm>
            <a:off x="478706" y="928092"/>
            <a:ext cx="8186589" cy="1160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37939" y="950565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Compra de mercadería</a:t>
            </a:r>
            <a:endParaRPr lang="en-US" sz="450" dirty="0"/>
          </a:p>
        </p:txBody>
      </p:sp>
      <p:sp>
        <p:nvSpPr>
          <p:cNvPr id="14" name="Text 12"/>
          <p:cNvSpPr/>
          <p:nvPr/>
        </p:nvSpPr>
        <p:spPr>
          <a:xfrm>
            <a:off x="4633615" y="950565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30,000</a:t>
            </a:r>
            <a:endParaRPr lang="en-US" sz="450" dirty="0"/>
          </a:p>
        </p:txBody>
      </p:sp>
      <p:sp>
        <p:nvSpPr>
          <p:cNvPr id="15" name="Shape 13"/>
          <p:cNvSpPr/>
          <p:nvPr/>
        </p:nvSpPr>
        <p:spPr>
          <a:xfrm>
            <a:off x="478706" y="1044104"/>
            <a:ext cx="8186589" cy="1160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7939" y="1066577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Alquiler del local</a:t>
            </a:r>
            <a:endParaRPr lang="en-US" sz="450" dirty="0"/>
          </a:p>
        </p:txBody>
      </p:sp>
      <p:sp>
        <p:nvSpPr>
          <p:cNvPr id="17" name="Text 15"/>
          <p:cNvSpPr/>
          <p:nvPr/>
        </p:nvSpPr>
        <p:spPr>
          <a:xfrm>
            <a:off x="4633615" y="1066577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4,000</a:t>
            </a:r>
            <a:endParaRPr lang="en-US" sz="450" dirty="0"/>
          </a:p>
        </p:txBody>
      </p:sp>
      <p:sp>
        <p:nvSpPr>
          <p:cNvPr id="18" name="Shape 16"/>
          <p:cNvSpPr/>
          <p:nvPr/>
        </p:nvSpPr>
        <p:spPr>
          <a:xfrm>
            <a:off x="478706" y="1160115"/>
            <a:ext cx="8186589" cy="1160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37939" y="1182588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Sueldos administrativos</a:t>
            </a:r>
            <a:endParaRPr lang="en-US" sz="450" dirty="0"/>
          </a:p>
        </p:txBody>
      </p:sp>
      <p:sp>
        <p:nvSpPr>
          <p:cNvPr id="20" name="Text 18"/>
          <p:cNvSpPr/>
          <p:nvPr/>
        </p:nvSpPr>
        <p:spPr>
          <a:xfrm>
            <a:off x="4633615" y="1182588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5,000</a:t>
            </a:r>
            <a:endParaRPr lang="en-US" sz="450" dirty="0"/>
          </a:p>
        </p:txBody>
      </p:sp>
      <p:sp>
        <p:nvSpPr>
          <p:cNvPr id="21" name="Shape 19"/>
          <p:cNvSpPr/>
          <p:nvPr/>
        </p:nvSpPr>
        <p:spPr>
          <a:xfrm>
            <a:off x="478706" y="1276127"/>
            <a:ext cx="8186589" cy="1160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37939" y="1298600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Comisiones a vendedores</a:t>
            </a:r>
            <a:endParaRPr lang="en-US" sz="450" dirty="0"/>
          </a:p>
        </p:txBody>
      </p:sp>
      <p:sp>
        <p:nvSpPr>
          <p:cNvPr id="23" name="Text 21"/>
          <p:cNvSpPr/>
          <p:nvPr/>
        </p:nvSpPr>
        <p:spPr>
          <a:xfrm>
            <a:off x="4633615" y="1298600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3,000</a:t>
            </a:r>
            <a:endParaRPr lang="en-US" sz="450" dirty="0"/>
          </a:p>
        </p:txBody>
      </p:sp>
      <p:sp>
        <p:nvSpPr>
          <p:cNvPr id="24" name="Shape 22"/>
          <p:cNvSpPr/>
          <p:nvPr/>
        </p:nvSpPr>
        <p:spPr>
          <a:xfrm>
            <a:off x="478706" y="1392138"/>
            <a:ext cx="8186589" cy="1160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37939" y="1414611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Publicidad digital</a:t>
            </a:r>
            <a:endParaRPr lang="en-US" sz="450" dirty="0"/>
          </a:p>
        </p:txBody>
      </p:sp>
      <p:sp>
        <p:nvSpPr>
          <p:cNvPr id="26" name="Text 24"/>
          <p:cNvSpPr/>
          <p:nvPr/>
        </p:nvSpPr>
        <p:spPr>
          <a:xfrm>
            <a:off x="4633615" y="1414611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2,500</a:t>
            </a:r>
            <a:endParaRPr lang="en-US" sz="450" dirty="0"/>
          </a:p>
        </p:txBody>
      </p:sp>
      <p:sp>
        <p:nvSpPr>
          <p:cNvPr id="27" name="Shape 25"/>
          <p:cNvSpPr/>
          <p:nvPr/>
        </p:nvSpPr>
        <p:spPr>
          <a:xfrm>
            <a:off x="478706" y="1508150"/>
            <a:ext cx="8186589" cy="1160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37939" y="1530623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Empaques</a:t>
            </a:r>
            <a:endParaRPr lang="en-US" sz="450" dirty="0"/>
          </a:p>
        </p:txBody>
      </p:sp>
      <p:sp>
        <p:nvSpPr>
          <p:cNvPr id="29" name="Text 27"/>
          <p:cNvSpPr/>
          <p:nvPr/>
        </p:nvSpPr>
        <p:spPr>
          <a:xfrm>
            <a:off x="4633615" y="1530623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1,200</a:t>
            </a:r>
            <a:endParaRPr lang="en-US" sz="450" dirty="0"/>
          </a:p>
        </p:txBody>
      </p:sp>
      <p:sp>
        <p:nvSpPr>
          <p:cNvPr id="30" name="Shape 28"/>
          <p:cNvSpPr/>
          <p:nvPr/>
        </p:nvSpPr>
        <p:spPr>
          <a:xfrm>
            <a:off x="478706" y="1624161"/>
            <a:ext cx="8186589" cy="1160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37939" y="1646634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</a:t>
            </a:r>
            <a:endParaRPr lang="en-US" sz="450" dirty="0"/>
          </a:p>
        </p:txBody>
      </p:sp>
      <p:sp>
        <p:nvSpPr>
          <p:cNvPr id="32" name="Text 30"/>
          <p:cNvSpPr/>
          <p:nvPr/>
        </p:nvSpPr>
        <p:spPr>
          <a:xfrm>
            <a:off x="4633615" y="1646634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1,800</a:t>
            </a:r>
            <a:endParaRPr lang="en-US" sz="450" dirty="0"/>
          </a:p>
        </p:txBody>
      </p:sp>
      <p:sp>
        <p:nvSpPr>
          <p:cNvPr id="33" name="Shape 31"/>
          <p:cNvSpPr/>
          <p:nvPr/>
        </p:nvSpPr>
        <p:spPr>
          <a:xfrm>
            <a:off x="478706" y="1740173"/>
            <a:ext cx="8186589" cy="1160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37939" y="1762646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Servicios básicos</a:t>
            </a:r>
            <a:endParaRPr lang="en-US" sz="450" dirty="0"/>
          </a:p>
        </p:txBody>
      </p:sp>
      <p:sp>
        <p:nvSpPr>
          <p:cNvPr id="35" name="Text 33"/>
          <p:cNvSpPr/>
          <p:nvPr/>
        </p:nvSpPr>
        <p:spPr>
          <a:xfrm>
            <a:off x="4633615" y="1762646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900</a:t>
            </a:r>
            <a:endParaRPr lang="en-US" sz="450" dirty="0"/>
          </a:p>
        </p:txBody>
      </p:sp>
      <p:sp>
        <p:nvSpPr>
          <p:cNvPr id="36" name="Shape 34"/>
          <p:cNvSpPr/>
          <p:nvPr/>
        </p:nvSpPr>
        <p:spPr>
          <a:xfrm>
            <a:off x="478706" y="1856184"/>
            <a:ext cx="8186589" cy="1160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37939" y="1878657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Merma de productos</a:t>
            </a:r>
            <a:endParaRPr lang="en-US" sz="450" dirty="0"/>
          </a:p>
        </p:txBody>
      </p:sp>
      <p:sp>
        <p:nvSpPr>
          <p:cNvPr id="38" name="Text 36"/>
          <p:cNvSpPr/>
          <p:nvPr/>
        </p:nvSpPr>
        <p:spPr>
          <a:xfrm>
            <a:off x="4633615" y="1878657"/>
            <a:ext cx="442964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700</a:t>
            </a:r>
            <a:endParaRPr lang="en-US" sz="45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2010221"/>
            <a:ext cx="8196114" cy="45897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0284"/>
            <a:ext cx="8196114" cy="359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Matriz de Trabajo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73943" y="930920"/>
            <a:ext cx="8653314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Copia esta plantilla y completa cada columna. </a:t>
            </a:r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basta con marcar una alternativa: debes justificarla.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73943" y="1212131"/>
            <a:ext cx="8196114" cy="3034159"/>
          </a:xfrm>
          <a:prstGeom prst="roundRect">
            <a:avLst>
              <a:gd name="adj" fmla="val 540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3943" y="1517452"/>
            <a:ext cx="8196114" cy="68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73943" y="1820391"/>
            <a:ext cx="8196114" cy="68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3943" y="2123331"/>
            <a:ext cx="8196114" cy="68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3943" y="2426271"/>
            <a:ext cx="8196114" cy="68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3943" y="2729210"/>
            <a:ext cx="8196114" cy="68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73943" y="3032150"/>
            <a:ext cx="8196114" cy="68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3943" y="3335089"/>
            <a:ext cx="8196114" cy="68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73943" y="3638029"/>
            <a:ext cx="8196114" cy="68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73943" y="3940969"/>
            <a:ext cx="8196114" cy="682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279824" y="1212131"/>
            <a:ext cx="6827" cy="303415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507804" y="1212131"/>
            <a:ext cx="6827" cy="303415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735785" y="1212131"/>
            <a:ext cx="6827" cy="303415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09333" y="1212131"/>
            <a:ext cx="6827" cy="303415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78780" y="1216893"/>
            <a:ext cx="1801044" cy="300558"/>
          </a:xfrm>
          <a:custGeom>
            <a:avLst/>
            <a:gdLst/>
            <a:ahLst/>
            <a:cxnLst/>
            <a:rect l="l" t="t" r="r" b="b"/>
            <a:pathLst>
              <a:path w="1801044" h="300558">
                <a:moveTo>
                  <a:pt x="136538" y="0"/>
                </a:moveTo>
                <a:lnTo>
                  <a:pt x="1801044" y="0"/>
                </a:lnTo>
                <a:lnTo>
                  <a:pt x="1801044" y="300558"/>
                </a:lnTo>
                <a:lnTo>
                  <a:pt x="0" y="300558"/>
                </a:lnTo>
                <a:lnTo>
                  <a:pt x="0" y="136538"/>
                </a:lnTo>
                <a:arcTo hR="136538" wR="136538" stAng="10800000" swAng="5400000"/>
                <a:close/>
              </a:path>
            </a:pathLst>
          </a:custGeom>
          <a:solidFill>
            <a:srgbClr val="063E5F"/>
          </a:solidFill>
          <a:ln/>
        </p:spPr>
      </p:sp>
      <p:sp>
        <p:nvSpPr>
          <p:cNvPr id="19" name="Text 17"/>
          <p:cNvSpPr/>
          <p:nvPr/>
        </p:nvSpPr>
        <p:spPr>
          <a:xfrm>
            <a:off x="587946" y="1282005"/>
            <a:ext cx="2037531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Desembolso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79824" y="1216893"/>
            <a:ext cx="1227981" cy="300558"/>
          </a:xfrm>
          <a:prstGeom prst="rect">
            <a:avLst/>
          </a:prstGeom>
          <a:solidFill>
            <a:srgbClr val="063E5F"/>
          </a:solidFill>
          <a:ln/>
        </p:spPr>
      </p:sp>
      <p:sp>
        <p:nvSpPr>
          <p:cNvPr id="21" name="Text 19"/>
          <p:cNvSpPr/>
          <p:nvPr/>
        </p:nvSpPr>
        <p:spPr>
          <a:xfrm>
            <a:off x="2391370" y="1282005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¿Costo / Gasto?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07804" y="1216893"/>
            <a:ext cx="1227981" cy="300558"/>
          </a:xfrm>
          <a:prstGeom prst="rect">
            <a:avLst/>
          </a:prstGeom>
          <a:solidFill>
            <a:srgbClr val="063E5F"/>
          </a:solidFill>
          <a:ln/>
        </p:spPr>
      </p:sp>
      <p:sp>
        <p:nvSpPr>
          <p:cNvPr id="23" name="Text 21"/>
          <p:cNvSpPr/>
          <p:nvPr/>
        </p:nvSpPr>
        <p:spPr>
          <a:xfrm>
            <a:off x="3619351" y="1282005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¿Fijo / Variable?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35785" y="1216893"/>
            <a:ext cx="1473547" cy="300558"/>
          </a:xfrm>
          <a:prstGeom prst="rect">
            <a:avLst/>
          </a:prstGeom>
          <a:solidFill>
            <a:srgbClr val="063E5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7332" y="1282005"/>
            <a:ext cx="1707654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¿Directo / Indirecto?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09333" y="1216893"/>
            <a:ext cx="2455962" cy="300558"/>
          </a:xfrm>
          <a:custGeom>
            <a:avLst/>
            <a:gdLst/>
            <a:ahLst/>
            <a:cxnLst/>
            <a:rect l="l" t="t" r="r" b="b"/>
            <a:pathLst>
              <a:path w="2455962" h="300558">
                <a:moveTo>
                  <a:pt x="0" y="0"/>
                </a:moveTo>
                <a:lnTo>
                  <a:pt x="2319424" y="0"/>
                </a:lnTo>
                <a:arcTo hR="136538" wR="136538" stAng="16200000" swAng="5400000"/>
                <a:lnTo>
                  <a:pt x="2455962" y="300558"/>
                </a:lnTo>
                <a:lnTo>
                  <a:pt x="0" y="300558"/>
                </a:lnTo>
                <a:lnTo>
                  <a:pt x="0" y="0"/>
                </a:lnTo>
                <a:close/>
              </a:path>
            </a:pathLst>
          </a:custGeom>
          <a:solidFill>
            <a:srgbClr val="063E5F"/>
          </a:solidFill>
          <a:ln/>
        </p:spPr>
      </p:sp>
      <p:sp>
        <p:nvSpPr>
          <p:cNvPr id="27" name="Text 25"/>
          <p:cNvSpPr/>
          <p:nvPr/>
        </p:nvSpPr>
        <p:spPr>
          <a:xfrm>
            <a:off x="6320879" y="1282005"/>
            <a:ext cx="2692450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¿Por qué?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7946" y="1584945"/>
            <a:ext cx="2037531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Compra de mercadería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391370" y="1584945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19351" y="1584945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7332" y="1584945"/>
            <a:ext cx="1707654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20879" y="1584945"/>
            <a:ext cx="2692450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87946" y="1887885"/>
            <a:ext cx="2037531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Alquiler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391370" y="1887885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19351" y="1887885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47332" y="1887885"/>
            <a:ext cx="1707654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20879" y="1887885"/>
            <a:ext cx="2692450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87946" y="2190824"/>
            <a:ext cx="2037531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Sueldos administrativos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391370" y="2190824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19351" y="2190824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47332" y="2190824"/>
            <a:ext cx="1707654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20879" y="2190824"/>
            <a:ext cx="2692450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7946" y="2493764"/>
            <a:ext cx="2037531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Comisiones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391370" y="2493764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19351" y="2493764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47332" y="2493764"/>
            <a:ext cx="1707654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20879" y="2493764"/>
            <a:ext cx="2692450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87946" y="2796704"/>
            <a:ext cx="2037531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Publicidad digital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391370" y="2796704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619351" y="2796704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47332" y="2796704"/>
            <a:ext cx="1707654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320879" y="2796704"/>
            <a:ext cx="2692450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87946" y="3099643"/>
            <a:ext cx="2037531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Empaques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391370" y="3099643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619351" y="3099643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847332" y="3099643"/>
            <a:ext cx="1707654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320879" y="3099643"/>
            <a:ext cx="2692450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87946" y="3402583"/>
            <a:ext cx="2037531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391370" y="3402583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619351" y="3402583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847332" y="3402583"/>
            <a:ext cx="1707654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320879" y="3402583"/>
            <a:ext cx="2692450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87946" y="3705523"/>
            <a:ext cx="2037531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Servicios básicos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391370" y="3705523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619351" y="3705523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847332" y="3705523"/>
            <a:ext cx="1707654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320879" y="3705523"/>
            <a:ext cx="2692450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87946" y="4008462"/>
            <a:ext cx="2037531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Merma de productos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391370" y="4008462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619351" y="4008462"/>
            <a:ext cx="1462088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847332" y="4008462"/>
            <a:ext cx="1707654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320879" y="4008462"/>
            <a:ext cx="2692450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73943" y="4359548"/>
            <a:ext cx="8196114" cy="413668"/>
          </a:xfrm>
          <a:prstGeom prst="roundRect">
            <a:avLst>
              <a:gd name="adj" fmla="val 39608"/>
            </a:avLst>
          </a:prstGeom>
          <a:solidFill>
            <a:srgbClr val="B6D6FC"/>
          </a:solidFill>
          <a:ln/>
        </p:spPr>
      </p:sp>
      <p:pic>
        <p:nvPicPr>
          <p:cNvPr id="7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109" y="4501455"/>
            <a:ext cx="136475" cy="109165"/>
          </a:xfrm>
          <a:prstGeom prst="rect">
            <a:avLst/>
          </a:prstGeom>
        </p:spPr>
      </p:pic>
      <p:sp>
        <p:nvSpPr>
          <p:cNvPr id="75" name="Text 72"/>
          <p:cNvSpPr/>
          <p:nvPr/>
        </p:nvSpPr>
        <p:spPr>
          <a:xfrm>
            <a:off x="828749" y="4487466"/>
            <a:ext cx="8189342" cy="1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Recuerda: la merma es un caso especial. ¿Es un costo, un gasto o una pérdida? Discútelo con tu equipo antes de responder.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550218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Decisión de Marketing: ¿Conviene la campaña?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176858"/>
            <a:ext cx="865331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Nova Market quiere invertir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3,000 adicionales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 una campaña digital. La campaña espera generar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15,000 de ventas adicionales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88665" y="1499667"/>
            <a:ext cx="4124102" cy="2296864"/>
          </a:xfrm>
          <a:prstGeom prst="roundRect">
            <a:avLst>
              <a:gd name="adj" fmla="val 12381"/>
            </a:avLst>
          </a:prstGeom>
          <a:solidFill>
            <a:srgbClr val="063E5F"/>
          </a:solidFill>
          <a:ln/>
        </p:spPr>
      </p:sp>
      <p:sp>
        <p:nvSpPr>
          <p:cNvPr id="5" name="Text 3"/>
          <p:cNvSpPr/>
          <p:nvPr/>
        </p:nvSpPr>
        <p:spPr>
          <a:xfrm>
            <a:off x="507132" y="1618134"/>
            <a:ext cx="3887167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¿Qué costos aumentarán?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132" y="1931417"/>
            <a:ext cx="4344367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 las ventas crecen, estos costos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variables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también crecerán: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132" y="2227585"/>
            <a:ext cx="3887167" cy="882476"/>
          </a:xfrm>
          <a:prstGeom prst="rect">
            <a:avLst/>
          </a:prstGeom>
          <a:noFill/>
          <a:ln/>
        </p:spPr>
        <p:txBody>
          <a:bodyPr wrap="square" lIns="0" tIns="47395" rIns="0" bIns="0" rtlCol="0" anchor="t">
            <a:normAutofit/>
          </a:bodyPr>
          <a:lstStyle/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Comisiones a vendedores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 por pedidos adicionales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Empaques por unidades adicionales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 de la mercadería vendida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21275" y="1618134"/>
            <a:ext cx="395354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¿Qué costos permanecerán igual?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1275" y="1931417"/>
            <a:ext cx="4410745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Estos costos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fijos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cambian con el volumen: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21275" y="2227585"/>
            <a:ext cx="3953545" cy="651495"/>
          </a:xfrm>
          <a:prstGeom prst="rect">
            <a:avLst/>
          </a:prstGeom>
          <a:noFill/>
          <a:ln/>
        </p:spPr>
        <p:txBody>
          <a:bodyPr wrap="square" lIns="0" tIns="47395" rIns="0" bIns="0" rtlCol="0" anchor="t">
            <a:normAutofit/>
          </a:bodyPr>
          <a:lstStyle/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Alquiler del local: S/ 4,000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Sueldos administrativos: S/ 5,000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Internet y software: S/ 750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21275" y="2997547"/>
            <a:ext cx="395354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¿Cuánto queda realmente?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1275" y="3310830"/>
            <a:ext cx="3953545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Después de cubrir los costos variables adicionales generados por las nuevas ventas, ¿el margen justifica la inversión de S/ 3,000?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3943" y="3929807"/>
            <a:ext cx="8196114" cy="663401"/>
          </a:xfrm>
          <a:prstGeom prst="roundRect">
            <a:avLst>
              <a:gd name="adj" fmla="val 26791"/>
            </a:avLst>
          </a:prstGeom>
          <a:solidFill>
            <a:srgbClr val="D4E9F7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410" y="4098057"/>
            <a:ext cx="148084" cy="11846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58962" y="4077891"/>
            <a:ext cx="7692628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Concepto clave a introducir — COSTOS RELEVANTES PARA LA DECISIÓN: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Solo los costos que </a:t>
            </a:r>
            <a:pPr algn="l" indent="0" marL="0">
              <a:lnSpc>
                <a:spcPct val="133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cambian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la decisión importan para evaluarla. Los costos fijos que ya existen no deben influir en la decisión de hacer o no la campaña.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61131"/>
            <a:ext cx="8196114" cy="31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"Clasificar costos no es ordenar números"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73943" y="784473"/>
            <a:ext cx="819611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 obtener información para decidir.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473943" y="1325910"/>
            <a:ext cx="86533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variable del marketing mix depende de una comprensión correcta de los costos: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73943" y="1546250"/>
            <a:ext cx="4060403" cy="1028551"/>
          </a:xfrm>
          <a:prstGeom prst="roundRect">
            <a:avLst>
              <a:gd name="adj" fmla="val 1377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3063" y="1645369"/>
            <a:ext cx="283220" cy="283220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0974" y="1723206"/>
            <a:ext cx="127397" cy="1273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3063" y="2003822"/>
            <a:ext cx="3862164" cy="1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Precio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3063" y="2204219"/>
            <a:ext cx="386216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Depende de cuánto cuesta producir o vender. Sin clasificar costos, el precio puede ser incorrecto.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609579" y="1546250"/>
            <a:ext cx="4060478" cy="1028551"/>
          </a:xfrm>
          <a:prstGeom prst="roundRect">
            <a:avLst>
              <a:gd name="adj" fmla="val 1377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8699" y="1645369"/>
            <a:ext cx="283220" cy="283220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6610" y="1723206"/>
            <a:ext cx="127397" cy="12739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8699" y="2003822"/>
            <a:ext cx="3862239" cy="1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Margen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708699" y="2204219"/>
            <a:ext cx="386223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calcula conociendo los costos variables asociados a cada unidad vendida.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473943" y="2650034"/>
            <a:ext cx="4060403" cy="1028551"/>
          </a:xfrm>
          <a:prstGeom prst="roundRect">
            <a:avLst>
              <a:gd name="adj" fmla="val 1377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3063" y="2749153"/>
            <a:ext cx="283220" cy="283220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974" y="2826990"/>
            <a:ext cx="127397" cy="12739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3063" y="3107606"/>
            <a:ext cx="3862164" cy="1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Promoción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73063" y="3308003"/>
            <a:ext cx="386216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Requiere saber si el costo de la campaña es fijo o variable para evaluar su rentabilidad.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4609579" y="2650034"/>
            <a:ext cx="4060478" cy="1028551"/>
          </a:xfrm>
          <a:prstGeom prst="roundRect">
            <a:avLst>
              <a:gd name="adj" fmla="val 1377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08699" y="2749153"/>
            <a:ext cx="283220" cy="283220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86610" y="2826990"/>
            <a:ext cx="127397" cy="12739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08699" y="3107606"/>
            <a:ext cx="3862239" cy="1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Canal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708699" y="3308003"/>
            <a:ext cx="386223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canal tiene costos directos e indirectos distintos que afectan la rentabilidad por canal.</a:t>
            </a:r>
            <a:endParaRPr lang="en-US" sz="700" dirty="0"/>
          </a:p>
        </p:txBody>
      </p:sp>
      <p:sp>
        <p:nvSpPr>
          <p:cNvPr id="25" name="Shape 19"/>
          <p:cNvSpPr/>
          <p:nvPr/>
        </p:nvSpPr>
        <p:spPr>
          <a:xfrm>
            <a:off x="473943" y="3753817"/>
            <a:ext cx="4060403" cy="1028551"/>
          </a:xfrm>
          <a:prstGeom prst="roundRect">
            <a:avLst>
              <a:gd name="adj" fmla="val 1377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73063" y="3852937"/>
            <a:ext cx="283220" cy="283220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0974" y="3930774"/>
            <a:ext cx="127397" cy="12739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3063" y="4211389"/>
            <a:ext cx="3862164" cy="1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Ventas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73063" y="4411787"/>
            <a:ext cx="38621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volumen impacta directamente en los costos variables totales de la operación.</a:t>
            </a:r>
            <a:endParaRPr lang="en-US" sz="700" dirty="0"/>
          </a:p>
        </p:txBody>
      </p:sp>
      <p:sp>
        <p:nvSpPr>
          <p:cNvPr id="30" name="Shape 23"/>
          <p:cNvSpPr/>
          <p:nvPr/>
        </p:nvSpPr>
        <p:spPr>
          <a:xfrm>
            <a:off x="4609579" y="3753817"/>
            <a:ext cx="4060478" cy="1028551"/>
          </a:xfrm>
          <a:prstGeom prst="roundRect">
            <a:avLst>
              <a:gd name="adj" fmla="val 1377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708699" y="3852937"/>
            <a:ext cx="283220" cy="283220"/>
          </a:xfrm>
          <a:prstGeom prst="ellipse">
            <a:avLst/>
          </a:prstGeom>
          <a:solidFill>
            <a:srgbClr val="4296C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86610" y="3930774"/>
            <a:ext cx="127397" cy="12739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708699" y="4211389"/>
            <a:ext cx="3862239" cy="1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Rentabilidad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4708699" y="4411787"/>
            <a:ext cx="386223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Solo se mide bien cuando los costos están correctamente clasificados y asignados.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574179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CIERRE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73943" y="1200820"/>
            <a:ext cx="1024458" cy="180008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/>
        </p:spPr>
      </p:sp>
      <p:sp>
        <p:nvSpPr>
          <p:cNvPr id="4" name="Text 2"/>
          <p:cNvSpPr/>
          <p:nvPr/>
        </p:nvSpPr>
        <p:spPr>
          <a:xfrm>
            <a:off x="545009" y="1236315"/>
            <a:ext cx="1339528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TICKET DE SALIDA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557635" y="1200820"/>
            <a:ext cx="1514475" cy="180008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28701" y="1236315"/>
            <a:ext cx="1829544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RESPONDE ANTES DE SALIR</a:t>
            </a:r>
            <a:endParaRPr lang="en-US" sz="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1514103"/>
            <a:ext cx="2653010" cy="14411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29383" y="1602953"/>
            <a:ext cx="14213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6698" y="1987972"/>
            <a:ext cx="2387501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Pregunta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6698" y="2253853"/>
            <a:ext cx="2387501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comisión de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5 por venta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¿es fija o variable? ¿Por qué?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5421" y="1514103"/>
            <a:ext cx="2653085" cy="14411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0860" y="1602953"/>
            <a:ext cx="14213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78175" y="1987972"/>
            <a:ext cx="23875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Pregunta 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78175" y="2253853"/>
            <a:ext cx="2387575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alquiler de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S/ 4,000 mensuales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¿es fijo o variable? ¿Por qué?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6972" y="1514103"/>
            <a:ext cx="2653010" cy="14411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72412" y="1602953"/>
            <a:ext cx="14213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149727" y="1987972"/>
            <a:ext cx="2387501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Pregunta 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49727" y="2253853"/>
            <a:ext cx="2387501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¿Por qué es importante clasificar correctamente los costos antes de tomar una </a:t>
            </a:r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decisión de marketing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51644" y="3221757"/>
            <a:ext cx="8475613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"Un buen marketero no solo sabe vender. También sabe cuánto cuesta vender."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73943" y="3088481"/>
            <a:ext cx="14288" cy="456084"/>
          </a:xfrm>
          <a:prstGeom prst="roundRect">
            <a:avLst>
              <a:gd name="adj" fmla="val 49998"/>
            </a:avLst>
          </a:prstGeom>
          <a:solidFill>
            <a:srgbClr val="75BAE6"/>
          </a:solidFill>
          <a:ln/>
        </p:spPr>
      </p:sp>
      <p:sp>
        <p:nvSpPr>
          <p:cNvPr id="21" name="Shape 16"/>
          <p:cNvSpPr/>
          <p:nvPr/>
        </p:nvSpPr>
        <p:spPr>
          <a:xfrm>
            <a:off x="473943" y="3677841"/>
            <a:ext cx="8196114" cy="891406"/>
          </a:xfrm>
          <a:prstGeom prst="roundRect">
            <a:avLst>
              <a:gd name="adj" fmla="val 1993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8706" y="3682603"/>
            <a:ext cx="2728838" cy="881881"/>
          </a:xfrm>
          <a:custGeom>
            <a:avLst/>
            <a:gdLst/>
            <a:ahLst/>
            <a:cxnLst/>
            <a:rect l="l" t="t" r="r" b="b"/>
            <a:pathLst>
              <a:path w="2728838" h="881881">
                <a:moveTo>
                  <a:pt x="148109" y="0"/>
                </a:moveTo>
                <a:lnTo>
                  <a:pt x="2728838" y="0"/>
                </a:lnTo>
                <a:lnTo>
                  <a:pt x="2728838" y="881881"/>
                </a:lnTo>
                <a:lnTo>
                  <a:pt x="148109" y="881881"/>
                </a:lnTo>
                <a:arcTo hR="148109" wR="148109" stAng="5400000" swAng="5400000"/>
                <a:lnTo>
                  <a:pt x="0" y="148109"/>
                </a:lnTo>
                <a:arcTo hR="148109" wR="148109" stAng="10800000" swAng="5400000"/>
                <a:close/>
              </a:path>
            </a:pathLst>
          </a:custGeom>
          <a:solidFill>
            <a:srgbClr val="D4E9F7"/>
          </a:solidFill>
          <a:ln/>
        </p:spPr>
      </p:sp>
      <p:sp>
        <p:nvSpPr>
          <p:cNvPr id="23" name="Text 18"/>
          <p:cNvSpPr/>
          <p:nvPr/>
        </p:nvSpPr>
        <p:spPr>
          <a:xfrm>
            <a:off x="597173" y="3801070"/>
            <a:ext cx="249190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97173" y="4066952"/>
            <a:ext cx="249190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Punto de equilibrio y su aplicación en decisiones de precio y volumen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3207544" y="3682603"/>
            <a:ext cx="2728838" cy="881881"/>
          </a:xfrm>
          <a:prstGeom prst="rect">
            <a:avLst/>
          </a:prstGeom>
          <a:solidFill>
            <a:srgbClr val="D4E9F7"/>
          </a:solidFill>
          <a:ln/>
        </p:spPr>
      </p:sp>
      <p:sp>
        <p:nvSpPr>
          <p:cNvPr id="26" name="Shape 21"/>
          <p:cNvSpPr/>
          <p:nvPr/>
        </p:nvSpPr>
        <p:spPr>
          <a:xfrm>
            <a:off x="3207544" y="3682603"/>
            <a:ext cx="14288" cy="881881"/>
          </a:xfrm>
          <a:prstGeom prst="roundRect">
            <a:avLst>
              <a:gd name="adj" fmla="val 49998"/>
            </a:avLst>
          </a:prstGeom>
          <a:solidFill>
            <a:srgbClr val="BACFDD"/>
          </a:solidFill>
          <a:ln/>
        </p:spPr>
      </p:sp>
      <p:sp>
        <p:nvSpPr>
          <p:cNvPr id="27" name="Text 22"/>
          <p:cNvSpPr/>
          <p:nvPr/>
        </p:nvSpPr>
        <p:spPr>
          <a:xfrm>
            <a:off x="3326011" y="3801070"/>
            <a:ext cx="249190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Actividad 2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3326011" y="4066952"/>
            <a:ext cx="249190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 de la clasificación de costos de Nova Market — revisar rúbrica en el sílabo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936382" y="3682603"/>
            <a:ext cx="2728838" cy="881881"/>
          </a:xfrm>
          <a:custGeom>
            <a:avLst/>
            <a:gdLst/>
            <a:ahLst/>
            <a:cxnLst/>
            <a:rect l="l" t="t" r="r" b="b"/>
            <a:pathLst>
              <a:path w="2728838" h="881881">
                <a:moveTo>
                  <a:pt x="0" y="0"/>
                </a:moveTo>
                <a:lnTo>
                  <a:pt x="2580729" y="0"/>
                </a:lnTo>
                <a:arcTo hR="148109" wR="148109" stAng="16200000" swAng="5400000"/>
                <a:lnTo>
                  <a:pt x="2728838" y="733772"/>
                </a:lnTo>
                <a:arcTo hR="148109" wR="148109" stAng="0" swAng="5400000"/>
                <a:lnTo>
                  <a:pt x="0" y="881881"/>
                </a:lnTo>
                <a:lnTo>
                  <a:pt x="0" y="0"/>
                </a:lnTo>
                <a:close/>
              </a:path>
            </a:pathLst>
          </a:custGeom>
          <a:solidFill>
            <a:srgbClr val="D4E9F7"/>
          </a:solidFill>
          <a:ln/>
        </p:spPr>
      </p:sp>
      <p:sp>
        <p:nvSpPr>
          <p:cNvPr id="30" name="Shape 25"/>
          <p:cNvSpPr/>
          <p:nvPr/>
        </p:nvSpPr>
        <p:spPr>
          <a:xfrm>
            <a:off x="5936382" y="3682603"/>
            <a:ext cx="14288" cy="881881"/>
          </a:xfrm>
          <a:prstGeom prst="roundRect">
            <a:avLst>
              <a:gd name="adj" fmla="val 49998"/>
            </a:avLst>
          </a:prstGeom>
          <a:solidFill>
            <a:srgbClr val="BACFDD"/>
          </a:solidFill>
          <a:ln/>
        </p:spPr>
      </p:sp>
      <p:sp>
        <p:nvSpPr>
          <p:cNvPr id="31" name="Text 26"/>
          <p:cNvSpPr/>
          <p:nvPr/>
        </p:nvSpPr>
        <p:spPr>
          <a:xfrm>
            <a:off x="6054849" y="3801070"/>
            <a:ext cx="249190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Recuerda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054849" y="4066952"/>
            <a:ext cx="249190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IES "Thomas Jefferson" · Marketing 3.er Ciclo · 2026-II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2026-08-18T15:32:13Z</dcterms:created>
  <dcterms:modified xsi:type="dcterms:W3CDTF">2026-08-18T15:32:13Z</dcterms:modified>
</cp:coreProperties>
</file>