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Montserrat"/>
      <p:regular r:id="rId201314"/>
    </p:embeddedFont>
    <p:embeddedFont>
      <p:font typeface="Montserrat Bold"/>
      <p:regular r:id="rId201315"/>
    </p:embeddedFont>
    <p:embeddedFont>
      <p:font typeface="Montserrat Black"/>
      <p:regular r:id="rId201316"/>
    </p:embeddedFont>
    <p:embeddedFont>
      <p:font typeface="Source Sans 3"/>
      <p:regular r:id="rId201317"/>
    </p:embeddedFont>
    <p:embeddedFont>
      <p:font typeface="Source Sans 3 Bold"/>
      <p:regular r:id="rId201318"/>
    </p:embeddedFont>
    <p:embeddedFont>
      <p:font typeface="Source Sans 3 Black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ED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2674045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Gestión de Inventarios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5291700" y="3566914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Manejo, Toma, Kardex y Métodos de Valuación — Tercer Ciclo de Marketing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91700" y="1435894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¿Qué es el Inventario?</a:t>
            </a:r>
            <a:endParaRPr lang="en-US" sz="3650" dirty="0"/>
          </a:p>
        </p:txBody>
      </p:sp>
      <p:sp>
        <p:nvSpPr>
          <p:cNvPr id="4" name="Shape 1"/>
          <p:cNvSpPr/>
          <p:nvPr/>
        </p:nvSpPr>
        <p:spPr>
          <a:xfrm>
            <a:off x="5291700" y="2328763"/>
            <a:ext cx="2987203" cy="1752302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5497375" y="2534444"/>
            <a:ext cx="2575853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Definición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97375" y="2949972"/>
            <a:ext cx="2575853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Bienes tangibles que una empresa posee para venta, producción o uso interno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84578" y="2328763"/>
            <a:ext cx="2987303" cy="1752302"/>
          </a:xfrm>
          <a:prstGeom prst="roundRect">
            <a:avLst>
              <a:gd name="adj" fmla="val 1761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8690254" y="2534444"/>
            <a:ext cx="2575952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Importancia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690254" y="2949972"/>
            <a:ext cx="2575952" cy="92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Activo más significativo en empresas comerciales e industriales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291700" y="4286746"/>
            <a:ext cx="6180181" cy="1135360"/>
          </a:xfrm>
          <a:prstGeom prst="roundRect">
            <a:avLst>
              <a:gd name="adj" fmla="val 2717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5497375" y="4492427"/>
            <a:ext cx="5768831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Tipos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5497375" y="4907955"/>
            <a:ext cx="5768831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Materias primas, productos en proceso y productos terminados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4" y="2476698"/>
            <a:ext cx="1060126" cy="312440"/>
          </a:xfrm>
          <a:prstGeom prst="roundRect">
            <a:avLst>
              <a:gd name="adj" fmla="val 790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843140" y="2538313"/>
            <a:ext cx="142305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CAPÍTULO 1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9814" y="2871391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Manejo de Inventarios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719814" y="3764260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Estrategias y herramientas para controlar eficientemente las existencias de una empresa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710432"/>
            <a:ext cx="3436951" cy="343703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64950" y="1473002"/>
            <a:ext cx="6813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Principios del Manejo de Inventarios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4950" y="2873177"/>
            <a:ext cx="2133943" cy="248612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997623" y="3104257"/>
            <a:ext cx="157019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Control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4997623" y="3602137"/>
            <a:ext cx="1570197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Registro sistemático de entradas, salidas y existencias</a:t>
            </a:r>
            <a:endParaRPr lang="en-US" sz="16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004569" y="2873177"/>
            <a:ext cx="2133943" cy="24861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37241" y="3104257"/>
            <a:ext cx="157019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Objetivo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7337241" y="3602137"/>
            <a:ext cx="1570197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Evitar desabastecimiento, exceso de stock y pérdidas</a:t>
            </a:r>
            <a:endParaRPr lang="en-US" sz="16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44188" y="2873177"/>
            <a:ext cx="2133943" cy="248612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76860" y="3104257"/>
            <a:ext cx="1570197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Herramientas clave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676860" y="3894336"/>
            <a:ext cx="1570197" cy="1233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Software ERP, sistemas de control y registros físicos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Políticas de Inventario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992783"/>
            <a:ext cx="5250624" cy="5250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3099594"/>
            <a:ext cx="525062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Stock Mínimo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227607" y="3297039"/>
            <a:ext cx="5860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Nivel mínimo para garantizar la continuidad operativa sin interrupciones.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6227607" y="3464123"/>
            <a:ext cx="525062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Punto de Reorden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27607" y="3661569"/>
            <a:ext cx="5860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Momento exacto para realizar un nuevo pedido y evitar quiebres.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227607" y="3828653"/>
            <a:ext cx="525062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Stock Máximo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27607" y="4026098"/>
            <a:ext cx="5860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Límite superior para evitar costos excesivos de almacenamiento.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2630984"/>
            <a:ext cx="1060126" cy="312440"/>
          </a:xfrm>
          <a:prstGeom prst="roundRect">
            <a:avLst>
              <a:gd name="adj" fmla="val 790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5415025" y="2692598"/>
            <a:ext cx="142305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CAPÍTULO 2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91700" y="3025676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Toma de Inventarios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91700" y="3918545"/>
            <a:ext cx="6789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Verificación física para garantizar la exactitud de los registros contables.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1564481"/>
            <a:ext cx="6813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¿Qué es la Toma de Inventarios?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19814" y="2938959"/>
            <a:ext cx="6813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Proceso de </a:t>
            </a:r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conteo físico y verificación</a:t>
            </a:r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 existencias, comparándolas con los registros contables.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19814" y="3740944"/>
            <a:ext cx="6813181" cy="1686223"/>
          </a:xfrm>
          <a:prstGeom prst="rect">
            <a:avLst/>
          </a:prstGeom>
          <a:noFill/>
          <a:ln/>
        </p:spPr>
        <p:txBody>
          <a:bodyPr wrap="square" lIns="0" tIns="82276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Inventario periódico: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 realiza anual o semestralmente en fecha programada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Inventario cíclico: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Se ejecuta de forma continua por rotación de productos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Resultado: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Detectar faltantes, sobrantes y diferencias con registros contables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1181" y="1710432"/>
            <a:ext cx="3436951" cy="343703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75072"/>
            <a:ext cx="10752067" cy="456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b="1" spc="-2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Pasos para una Toma de Inventario Exitosa</a:t>
            </a:r>
            <a:endParaRPr lang="en-US" sz="28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282601"/>
            <a:ext cx="10752067" cy="46444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85522" y="4745006"/>
            <a:ext cx="1596496" cy="264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Preparación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3285522" y="5092002"/>
            <a:ext cx="1596496" cy="414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Organizar y etiquetar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7384913" y="4952105"/>
            <a:ext cx="1596497" cy="264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Conciliación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384913" y="5299101"/>
            <a:ext cx="1596497" cy="20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Conteo vs. registros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240915" y="1701685"/>
            <a:ext cx="1596496" cy="264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Planificación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240915" y="2048680"/>
            <a:ext cx="1596496" cy="414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Fecha, equipo y zonas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368620" y="1701685"/>
            <a:ext cx="1596496" cy="264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Ajustes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368620" y="2048680"/>
            <a:ext cx="1596496" cy="207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Corregir diferencias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5360660" y="1701685"/>
            <a:ext cx="1596496" cy="2642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650" b="1" spc="-1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Conteo físico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5360660" y="2048680"/>
            <a:ext cx="1596496" cy="4141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3000"/>
              </a:lnSpc>
              <a:buNone/>
            </a:pPr>
            <a:r>
              <a:rPr lang="en-US" sz="14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Formatos o sistemas digitales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19814" y="6068219"/>
            <a:ext cx="11361652" cy="214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Estos pasos garantizan un proceso ordenado y confiable.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91700" y="2476698"/>
            <a:ext cx="1060126" cy="312440"/>
          </a:xfrm>
          <a:prstGeom prst="roundRect">
            <a:avLst>
              <a:gd name="adj" fmla="val 790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5415025" y="2538313"/>
            <a:ext cx="142305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CAPÍTULO 3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291700" y="2871391"/>
            <a:ext cx="6180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Kardex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5291700" y="3764260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Instrumento esencial para el control individual de cada artículo en inventario.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95709"/>
            <a:ext cx="10752067" cy="5477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b="1" spc="-35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 Kardex: Registro de Movimientos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719814" y="1577280"/>
            <a:ext cx="5140792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</a:t>
            </a:r>
            <a:pPr algn="l" indent="0" marL="0">
              <a:lnSpc>
                <a:spcPct val="121000"/>
              </a:lnSpc>
              <a:buNone/>
            </a:pPr>
            <a:r>
              <a:rPr lang="en-US" sz="15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Kardex</a:t>
            </a:r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controla entradas, salidas y saldo de cada producto en tiempo real.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37439" y="1617960"/>
          <a:ext cx="9143771" cy="914400"/>
        </p:xfrm>
        <a:graphic>
          <a:graphicData uri="http://schemas.openxmlformats.org/drawingml/2006/table">
            <a:tbl>
              <a:tblPr/>
              <a:tblGrid>
                <a:gridCol w="1285198"/>
                <a:gridCol w="1285198"/>
                <a:gridCol w="1285198"/>
                <a:gridCol w="1285198"/>
              </a:tblGrid>
              <a:tr h="512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Fecha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Concepto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Entradas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Salidas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</a:tr>
              <a:tr h="5161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01/06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Compra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50 u.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1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05/06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Venta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20 u.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61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10/06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Compra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30 u.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29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15/06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Venta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—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15 u.</a:t>
                      </a:r>
                      <a:endParaRPr lang="en-US" sz="15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92833" marR="192833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9814" y="4611588"/>
            <a:ext cx="481993" cy="4820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9814" y="5319514"/>
            <a:ext cx="5263026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Columnas principales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719814" y="5701903"/>
            <a:ext cx="5263026" cy="2801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Fecha, concepto, entradas, salidas y existencias actuales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8756" y="4611588"/>
            <a:ext cx="481993" cy="4820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08756" y="5319514"/>
            <a:ext cx="5263125" cy="273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17" kern="0" dirty="0">
                <a:solidFill>
                  <a:srgbClr val="3D3838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Beneficio clave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6208756" y="5701903"/>
            <a:ext cx="5263125" cy="560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5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Muestra el saldo disponible sin necesidad de conteos físicos frecuentes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9814" y="2184499"/>
            <a:ext cx="1060126" cy="312440"/>
          </a:xfrm>
          <a:prstGeom prst="roundRect">
            <a:avLst>
              <a:gd name="adj" fmla="val 7900"/>
            </a:avLst>
          </a:prstGeom>
          <a:solidFill>
            <a:srgbClr val="E4E4E7"/>
          </a:solidFill>
          <a:ln/>
        </p:spPr>
      </p:sp>
      <p:sp>
        <p:nvSpPr>
          <p:cNvPr id="4" name="Text 1"/>
          <p:cNvSpPr/>
          <p:nvPr/>
        </p:nvSpPr>
        <p:spPr>
          <a:xfrm>
            <a:off x="843140" y="2246114"/>
            <a:ext cx="1423059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CAPÍTULO 4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19814" y="2579191"/>
            <a:ext cx="6180181" cy="11687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Métodos de Valuación de Inventarios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719814" y="4056459"/>
            <a:ext cx="6180181" cy="61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¿Cómo determinar el costo de lo que se vende y lo que queda en almacén?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1710432"/>
            <a:ext cx="3436951" cy="343703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664950" y="2134890"/>
            <a:ext cx="1042565" cy="312440"/>
          </a:xfrm>
          <a:prstGeom prst="roundRect">
            <a:avLst>
              <a:gd name="adj" fmla="val 7900"/>
            </a:avLst>
          </a:prstGeom>
          <a:noFill/>
          <a:ln w="6350">
            <a:solidFill>
              <a:srgbClr val="2D2E3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788276" y="2196505"/>
            <a:ext cx="1405498" cy="189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2D2E3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FIFO / PEPS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664950" y="2529582"/>
            <a:ext cx="6813181" cy="584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37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Método PEPS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4664950" y="3319661"/>
            <a:ext cx="7422766" cy="308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Primeras Entradas, Primeras Salidas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664950" y="3813175"/>
            <a:ext cx="6813181" cy="1069280"/>
          </a:xfrm>
          <a:prstGeom prst="rect">
            <a:avLst/>
          </a:prstGeom>
          <a:noFill/>
          <a:ln/>
        </p:spPr>
        <p:txBody>
          <a:bodyPr wrap="square" lIns="0" tIns="82276" rIns="0" bIns="0" rtlCol="0" anchor="t">
            <a:normAutofit/>
          </a:bodyPr>
          <a:lstStyle/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Principio: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Lo primero que entra es lo primero que sale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Ventaja: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El inventario final refleja los costos más recientes</a:t>
            </a:r>
            <a:endParaRPr lang="en-US" sz="1600" dirty="0"/>
          </a:p>
          <a:p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Ejemplo:</a:t>
            </a:r>
            <a:pPr algn="l" marL="325120" indent="-325120">
              <a:lnSpc>
                <a:spcPct val="125000"/>
              </a:lnSpc>
              <a:buSzPct val="100000"/>
              <a:buChar char="•"/>
            </a:pPr>
            <a:r>
              <a:rPr lang="en-US" sz="16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10 unidades a $5 y luego a $7; ventas se valúan a $5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Método Promedio Ponderado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9814" y="3262114"/>
            <a:ext cx="5860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El costo unitario se recalcula dividiendo el costo total entre las unidades disponibles.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719814" y="3435648"/>
            <a:ext cx="5250624" cy="259556"/>
          </a:xfrm>
          <a:prstGeom prst="roundRect">
            <a:avLst>
              <a:gd name="adj" fmla="val 5943"/>
            </a:avLst>
          </a:prstGeom>
          <a:solidFill>
            <a:srgbClr val="E4E4E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602" y="3512741"/>
            <a:ext cx="128485" cy="1027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3875" y="3507581"/>
            <a:ext cx="5423360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Ideal para productos homogéneos donde no es posible distinguir entre lotes.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19814" y="3753048"/>
            <a:ext cx="5250624" cy="249337"/>
          </a:xfrm>
          <a:prstGeom prst="rect">
            <a:avLst/>
          </a:prstGeom>
          <a:noFill/>
          <a:ln/>
        </p:spPr>
        <p:txBody>
          <a:bodyPr wrap="square" lIns="0" tIns="41138" rIns="0" bIns="0" rtlCol="0" anchor="t">
            <a:normAutofit/>
          </a:bodyPr>
          <a:lstStyle/>
          <a:p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Principio:</a:t>
            </a:r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Costo unitario recalculado en cada entrada de inventario</a:t>
            </a:r>
            <a:endParaRPr lang="en-US" sz="800" dirty="0"/>
          </a:p>
          <a:p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b="1" dirty="0">
                <a:solidFill>
                  <a:srgbClr val="3D3838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Ventaja:</a:t>
            </a:r>
            <a:pPr algn="l" marL="162560" indent="-162560">
              <a:lnSpc>
                <a:spcPct val="94000"/>
              </a:lnSpc>
              <a:buSzPct val="100000"/>
              <a:buChar char="•"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Suaviza fluctuaciones de precios y simplifica el control contable</a:t>
            </a:r>
            <a:endParaRPr lang="en-US" sz="8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607" y="992783"/>
            <a:ext cx="5250624" cy="525075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9814" y="565646"/>
            <a:ext cx="10752067" cy="292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18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Comparativa: PEPS vs. Promedio Ponderado</a:t>
            </a:r>
            <a:endParaRPr lang="en-US" sz="1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814" y="992783"/>
            <a:ext cx="5250624" cy="52507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27607" y="2938165"/>
            <a:ext cx="5250624" cy="1460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9" kern="0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¿Cuándo usar cada uno?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27607" y="3142059"/>
          <a:ext cx="9143771" cy="914400"/>
        </p:xfrm>
        <a:graphic>
          <a:graphicData uri="http://schemas.openxmlformats.org/drawingml/2006/table">
            <a:tbl>
              <a:tblPr/>
              <a:tblGrid>
                <a:gridCol w="2100250"/>
                <a:gridCol w="1575187"/>
                <a:gridCol w="1575187"/>
              </a:tblGrid>
              <a:tr h="193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Criterio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PEPS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Promedio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2D2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E34"/>
                    </a:solidFill>
                  </a:tcPr>
                </a:tc>
              </a:tr>
              <a:tr h="19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Inflación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Preferido</a:t>
                      </a:r>
                      <a:endParaRPr lang="en-US" sz="8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Neutral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Productos homogéneos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Funciona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Ideal</a:t>
                      </a:r>
                      <a:endParaRPr lang="en-US" sz="8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2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Simplicidad contable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Moderada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Alta</a:t>
                      </a:r>
                      <a:endParaRPr lang="en-US" sz="8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307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Costo actualizado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 Sí</a:t>
                      </a:r>
                      <a:endParaRPr lang="en-US" sz="800" dirty="0">
                        <a:latin typeface="Twemoji Mozilla, Apple Color Emoji, Segoe UI Emoji, Segoe UI Symbol, Noto Color Emoji, EmojiOne Color, Android Emoji, sans-serif" charset="0"/>
                        <a:ea typeface="Twemoji Mozilla, Apple Color Emoji, Segoe UI Emoji, Segoe UI Symbol, Noto Color Emoji, EmojiOne Color, Android Emoji, sans-serif" charset="0"/>
                        <a:cs typeface="Twemoji Mozilla, Apple Color Emoji, Segoe UI Emoji, Segoe UI Symbol, Noto Color Emoji, EmojiOne Color, Android Emoji, sans-serif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3D3838"/>
                          </a:solidFill>
                          <a:latin typeface="Source Sans 3" pitchFamily="34" charset="0"/>
                          <a:ea typeface="Source Sans 3" pitchFamily="34" charset="-122"/>
                          <a:cs typeface="Source Sans 3" pitchFamily="34" charset="-120"/>
                        </a:rPr>
                        <a:t>Aproximado</a:t>
                      </a:r>
                      <a:endParaRPr lang="en-US" sz="800" dirty="0">
                        <a:latin typeface="Source Sans 3" charset="0"/>
                        <a:ea typeface="Source Sans 3" charset="0"/>
                        <a:cs typeface="Source Sans 3" charset="0"/>
                      </a:endParaRPr>
                    </a:p>
                  </a:txBody>
                  <a:tcPr marL="102844" marR="102844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6227607" y="4187527"/>
            <a:ext cx="5860209" cy="115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dirty="0">
                <a:solidFill>
                  <a:srgbClr val="3D383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La elección depende del producto, normativa y política empresarial.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2026-09-01T13:28:42Z</dcterms:created>
  <dcterms:modified xsi:type="dcterms:W3CDTF">2026-09-01T13:28:42Z</dcterms:modified>
</cp:coreProperties>
</file>