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4.png"/><Relationship Id="rId7" Type="http://schemas.openxmlformats.org/officeDocument/2006/relationships/image" Target="../media/image-4-5.sv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2.png"/><Relationship Id="rId5" Type="http://schemas.openxmlformats.org/officeDocument/2006/relationships/image" Target="../media/image-1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3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2.png"/><Relationship Id="rId5" Type="http://schemas.openxmlformats.org/officeDocument/2006/relationships/image" Target="../media/image-18-3.svg"/><Relationship Id="rId6" Type="http://schemas.openxmlformats.org/officeDocument/2006/relationships/image" Target="../media/image-18-2.png"/><Relationship Id="rId7" Type="http://schemas.openxmlformats.org/officeDocument/2006/relationships/image" Target="../media/image-18-3.svg"/><Relationship Id="rId8" Type="http://schemas.openxmlformats.org/officeDocument/2006/relationships/image" Target="../media/image-18-2.png"/><Relationship Id="rId9" Type="http://schemas.openxmlformats.org/officeDocument/2006/relationships/image" Target="../media/image-18-3.sv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2.png"/><Relationship Id="rId5" Type="http://schemas.openxmlformats.org/officeDocument/2006/relationships/image" Target="../media/image-20-3.svg"/><Relationship Id="rId6" Type="http://schemas.openxmlformats.org/officeDocument/2006/relationships/image" Target="../media/image-20-6.png"/><Relationship Id="rId7" Type="http://schemas.openxmlformats.org/officeDocument/2006/relationships/image" Target="../media/image-2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73943" y="833810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Introducción al proceso de investigación en marketing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1927771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Investigación Cuantitativa 2026-II · Primera sesión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3943" y="2507754"/>
            <a:ext cx="2315840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6" name="Text 3"/>
          <p:cNvSpPr/>
          <p:nvPr/>
        </p:nvSpPr>
        <p:spPr>
          <a:xfrm>
            <a:off x="473943" y="2613496"/>
            <a:ext cx="231584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Curso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943" y="2917329"/>
            <a:ext cx="23158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Investigación Cuantitativa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5142" y="2507754"/>
            <a:ext cx="2315914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9" name="Text 6"/>
          <p:cNvSpPr/>
          <p:nvPr/>
        </p:nvSpPr>
        <p:spPr>
          <a:xfrm>
            <a:off x="2925142" y="2613496"/>
            <a:ext cx="23159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925142" y="2917329"/>
            <a:ext cx="23159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[Nombre del docente]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3943" y="3568378"/>
            <a:ext cx="4767114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2" name="Text 9"/>
          <p:cNvSpPr/>
          <p:nvPr/>
        </p:nvSpPr>
        <p:spPr>
          <a:xfrm>
            <a:off x="473943" y="3687589"/>
            <a:ext cx="4767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Facultad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3943" y="3991421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[Universidad / Facultad]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02943" y="510704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Propósito de la sesión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159222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finalizar, seremos capaces de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identificar, comprender y aplicar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los principales pasos del proceso de investigación de marketing.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2943" y="1744935"/>
            <a:ext cx="2315840" cy="1026988"/>
          </a:xfrm>
          <a:prstGeom prst="roundRect">
            <a:avLst>
              <a:gd name="adj" fmla="val 197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3065" y="1885057"/>
            <a:ext cx="203559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IDENTIFICAR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43065" y="2198415"/>
            <a:ext cx="203559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Reconocer las etapas del proceso de investigación.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4142" y="1744935"/>
            <a:ext cx="2315914" cy="1026988"/>
          </a:xfrm>
          <a:prstGeom prst="roundRect">
            <a:avLst>
              <a:gd name="adj" fmla="val 197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4264" y="1885057"/>
            <a:ext cx="203567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📘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COMPRENDER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4264" y="2198415"/>
            <a:ext cx="20356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Entender qué función cumple cada etapa.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02943" y="2907283"/>
            <a:ext cx="4767114" cy="810295"/>
          </a:xfrm>
          <a:prstGeom prst="roundRect">
            <a:avLst>
              <a:gd name="adj" fmla="val 2506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3065" y="3047405"/>
            <a:ext cx="448687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APLICAR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43065" y="3360762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Relacionar el proceso con situaciones reales de marketing.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02943" y="3869903"/>
            <a:ext cx="4767114" cy="762893"/>
          </a:xfrm>
          <a:prstGeom prst="roundRect">
            <a:avLst>
              <a:gd name="adj" fmla="val 26625"/>
            </a:avLst>
          </a:prstGeom>
          <a:solidFill>
            <a:srgbClr val="D4E9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02" y="4063454"/>
            <a:ext cx="169218" cy="1353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2879" y="4039046"/>
            <a:ext cx="419181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¿Por qué una empresa debería investigar antes de tomar una decisión de marketing?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7949"/>
            <a:ext cx="8196114" cy="327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Antes de empezar...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896764"/>
            <a:ext cx="5242545" cy="2970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3841" y="1517749"/>
            <a:ext cx="271090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Preguntas para reflexionar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3841" y="1754237"/>
            <a:ext cx="2710904" cy="740494"/>
          </a:xfrm>
          <a:prstGeom prst="rect">
            <a:avLst/>
          </a:prstGeom>
          <a:noFill/>
          <a:ln/>
        </p:spPr>
        <p:txBody>
          <a:bodyPr wrap="square" lIns="0" tIns="39778" rIns="0" bIns="0" rtlCol="0" anchor="t">
            <a:normAutofit/>
          </a:bodyPr>
          <a:lstStyle/>
          <a:p>
            <a:pPr algn="l" marL="152400" indent="-152400">
              <a:lnSpc>
                <a:spcPct val="116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sabe una empresa qué quieren los consumidores antes de lanzar un producto?</a:t>
            </a:r>
            <a:endParaRPr lang="en-US" sz="750" dirty="0"/>
          </a:p>
          <a:p>
            <a:pPr algn="l" marL="152400" indent="-152400">
              <a:lnSpc>
                <a:spcPct val="116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¿Es suficiente preguntarle al gerente qué piensa?</a:t>
            </a:r>
            <a:endParaRPr lang="en-US" sz="750" dirty="0"/>
          </a:p>
          <a:p>
            <a:pPr algn="l" marL="152400" indent="-152400">
              <a:lnSpc>
                <a:spcPct val="116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información necesitaríamos para tomar una buena decisión?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963841" y="2560439"/>
            <a:ext cx="3168104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caminos posibles: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963841" y="2780481"/>
            <a:ext cx="2710904" cy="456902"/>
          </a:xfrm>
          <a:prstGeom prst="roundRect">
            <a:avLst>
              <a:gd name="adj" fmla="val 32647"/>
            </a:avLst>
          </a:prstGeom>
          <a:solidFill>
            <a:srgbClr val="D4E9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258" y="2891358"/>
            <a:ext cx="124271" cy="994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946" y="2871043"/>
            <a:ext cx="2288381" cy="275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¿Cuál de los tres proporciona evidencia para tomar decisiones?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4031828"/>
            <a:ext cx="2732038" cy="3977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3360" y="4502572"/>
            <a:ext cx="253320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Opinión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981" y="4031828"/>
            <a:ext cx="2732038" cy="3977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05398" y="4502572"/>
            <a:ext cx="253320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Intuición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019" y="4031828"/>
            <a:ext cx="2732038" cy="39774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37436" y="4502572"/>
            <a:ext cx="253320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Investigación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02943" y="383753"/>
            <a:ext cx="4767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 lanzamiento que salió mal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02943" y="928911"/>
            <a:ext cx="476711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empresa lanza una nueva bebida dirigida a jóvenes universitarios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 investigar el mercado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Su equipo estaba convencido porque: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2943" y="1400919"/>
            <a:ext cx="4767114" cy="8873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92848" y="1533674"/>
            <a:ext cx="4444454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🙋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El gerente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092848" y="1800151"/>
            <a:ext cx="444445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Consideraba que "era una buena idea" basándose en su experiencia personal.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391966"/>
            <a:ext cx="4767114" cy="7096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92848" y="2524720"/>
            <a:ext cx="4444454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El diseño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092848" y="2791197"/>
            <a:ext cx="44444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producto estaba de moda y se veía atractivo visualmente.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2943" y="3205311"/>
            <a:ext cx="4767114" cy="7096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92848" y="3338066"/>
            <a:ext cx="4444454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Los trabajadores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092848" y="3604543"/>
            <a:ext cx="44444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Algunos decían que ellos sí lo comprarían.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902943" y="4031605"/>
            <a:ext cx="522431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📉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Resultado: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las ventas fueron mucho menores de lo esperado.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902943" y="4325913"/>
            <a:ext cx="4767114" cy="433834"/>
          </a:xfrm>
          <a:prstGeom prst="roundRect">
            <a:avLst>
              <a:gd name="adj" fmla="val 40967"/>
            </a:avLst>
          </a:prstGeom>
          <a:solidFill>
            <a:srgbClr val="D4E9F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1410" y="4474592"/>
            <a:ext cx="148084" cy="11846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87962" y="4459188"/>
            <a:ext cx="472082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¿Qué pudo haber hecho la empresa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antes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lanzar el producto?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1224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¿Dónde estuvo el problema?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76386" y="1560761"/>
            <a:ext cx="4127971" cy="1971973"/>
          </a:xfrm>
          <a:prstGeom prst="roundRect">
            <a:avLst>
              <a:gd name="adj" fmla="val 16481"/>
            </a:avLst>
          </a:prstGeom>
          <a:solidFill>
            <a:srgbClr val="75BAE6"/>
          </a:solidFill>
          <a:ln/>
        </p:spPr>
      </p:sp>
      <p:sp>
        <p:nvSpPr>
          <p:cNvPr id="4" name="Text 2"/>
          <p:cNvSpPr/>
          <p:nvPr/>
        </p:nvSpPr>
        <p:spPr>
          <a:xfrm>
            <a:off x="511746" y="1696120"/>
            <a:ext cx="385725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Decisión basada en suposiciones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1746" y="2063651"/>
            <a:ext cx="3857253" cy="744736"/>
          </a:xfrm>
          <a:prstGeom prst="rect">
            <a:avLst/>
          </a:prstGeom>
          <a:noFill/>
          <a:ln/>
        </p:spPr>
        <p:txBody>
          <a:bodyPr wrap="square" lIns="0" tIns="54165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"Creo que funcionará."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mí me gusta."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"Está de moda."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1746" y="2930203"/>
            <a:ext cx="385725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fundamento verificable. Alta incertidumbre. Alto riesgo.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962" y="1696120"/>
            <a:ext cx="393285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Decisión basada en investigación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1962" y="2063651"/>
            <a:ext cx="3932858" cy="1008757"/>
          </a:xfrm>
          <a:prstGeom prst="rect">
            <a:avLst/>
          </a:prstGeom>
          <a:noFill/>
          <a:ln/>
        </p:spPr>
        <p:txBody>
          <a:bodyPr wrap="square" lIns="0" tIns="54165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¿Quién es nuestro consumidor?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necesita realmente?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¿Cuánto pagaría?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valora en el producto?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1962" y="3194224"/>
            <a:ext cx="43900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evidencia. Reduce incertidumbre. Menor riesgo.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943" y="3685059"/>
            <a:ext cx="8196114" cy="546199"/>
          </a:xfrm>
          <a:prstGeom prst="roundRect">
            <a:avLst>
              <a:gd name="adj" fmla="val 37188"/>
            </a:avLst>
          </a:prstGeom>
          <a:solidFill>
            <a:srgbClr val="B6FCB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02" y="3878610"/>
            <a:ext cx="169218" cy="1353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3879" y="3854202"/>
            <a:ext cx="80780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Investigar permite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reducir la incertidumbre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antes de tomar decisiones de marketing.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73943" y="402580"/>
            <a:ext cx="4767114" cy="80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entendemos por investigación de marketing?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73943" y="1376735"/>
            <a:ext cx="4767114" cy="5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un proceso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sistemático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obtención, análisis e interpretación de información para comprender una situación de mercado y apoyar la toma de decisiones.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73943" y="2063055"/>
            <a:ext cx="2327970" cy="1376883"/>
          </a:xfrm>
          <a:prstGeom prst="roundRect">
            <a:avLst>
              <a:gd name="adj" fmla="val 1336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414" y="2190527"/>
            <a:ext cx="368126" cy="368126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618" y="2291730"/>
            <a:ext cx="165646" cy="1656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414" y="2669828"/>
            <a:ext cx="207302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SISTEMÁTICA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1414" y="2938314"/>
            <a:ext cx="2073027" cy="37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 investiga de manera improvisada ni al azar.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913087" y="2063055"/>
            <a:ext cx="2327970" cy="1376883"/>
          </a:xfrm>
          <a:prstGeom prst="roundRect">
            <a:avLst>
              <a:gd name="adj" fmla="val 1336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40559" y="2190527"/>
            <a:ext cx="368126" cy="368126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1762" y="2291730"/>
            <a:ext cx="165646" cy="1656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40559" y="2669828"/>
            <a:ext cx="207302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OBJETIVA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040559" y="2938314"/>
            <a:ext cx="2073027" cy="37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busca evidencia verificable, no solo opiniones.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3943" y="3551113"/>
            <a:ext cx="4767114" cy="1189806"/>
          </a:xfrm>
          <a:prstGeom prst="roundRect">
            <a:avLst>
              <a:gd name="adj" fmla="val 1547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1414" y="3678585"/>
            <a:ext cx="368126" cy="368126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618" y="3779788"/>
            <a:ext cx="165646" cy="1656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414" y="4157886"/>
            <a:ext cx="451217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ÚTIL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01414" y="4426372"/>
            <a:ext cx="451217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información debe ayudar a tomar decisiones concretas.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535"/>
            <a:ext cx="8196114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¿Opinión, intuición o evidencia?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3943" y="1096194"/>
            <a:ext cx="3940597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experiencia y la intuición pueden orientar, pero la investigación permite </a:t>
            </a:r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comprobar las suposiciones con evidencia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73943" y="1839292"/>
            <a:ext cx="3940597" cy="688925"/>
          </a:xfrm>
          <a:prstGeom prst="roundRect">
            <a:avLst>
              <a:gd name="adj" fmla="val 28102"/>
            </a:avLst>
          </a:prstGeom>
          <a:solidFill>
            <a:srgbClr val="D4E9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77" y="2024435"/>
            <a:ext cx="161330" cy="1290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3341" y="1982167"/>
            <a:ext cx="3392165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¿La experiencia y la intuición no sirven? Pueden orientar, pero no reemplazan la evidencia.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34223" y="1123876"/>
            <a:ext cx="3940597" cy="2667744"/>
          </a:xfrm>
          <a:prstGeom prst="roundRect">
            <a:avLst>
              <a:gd name="adj" fmla="val 725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4223" y="1691208"/>
            <a:ext cx="3940597" cy="80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34223" y="2457748"/>
            <a:ext cx="3940597" cy="80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34223" y="3022699"/>
            <a:ext cx="3940597" cy="80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868242" y="1207145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Criterio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0954" y="1207145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Opinión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33667" y="1207145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Intuición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6379" y="1207145"/>
            <a:ext cx="724644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Investigación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68242" y="1772096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Expresión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0954" y="1772096"/>
            <a:ext cx="724644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"Creo que..."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33667" y="1772096"/>
            <a:ext cx="724644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"Siento que..."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6379" y="1772096"/>
            <a:ext cx="724644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"Los datos muestran..."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68242" y="2538636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50954" y="2538636"/>
            <a:ext cx="724644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Experiencia personal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33667" y="2538636"/>
            <a:ext cx="724644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6379" y="2538636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68242" y="3103587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Verificable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50954" y="3103587"/>
            <a:ext cx="724644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necesariamente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33667" y="3103587"/>
            <a:ext cx="118184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Difícil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816379" y="3103587"/>
            <a:ext cx="724644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Sí, mediante proceso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656" y="4054004"/>
            <a:ext cx="2643783" cy="72724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31552" y="4068291"/>
            <a:ext cx="2471886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Opinión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31552" y="4363789"/>
            <a:ext cx="2471886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"Creo que..."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experiencia personal, puede ser subjetiva.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2890" y="4054004"/>
            <a:ext cx="2643857" cy="72724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414787" y="4068291"/>
            <a:ext cx="2471961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🤔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Intuición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3414787" y="4363789"/>
            <a:ext cx="2471961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"Siento que..."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percepción, difícil de verificar.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6200" y="4054004"/>
            <a:ext cx="2643857" cy="72724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198096" y="4068291"/>
            <a:ext cx="2471961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Investigación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198096" y="4363789"/>
            <a:ext cx="2471961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"Los datos muestran..."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sigue un proceso, puede analizarse.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2429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¿Para qué sirve la investigación de marketing?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640532"/>
            <a:ext cx="338510" cy="338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1670" y="1640532"/>
            <a:ext cx="2111499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🔎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Comprender al consumidor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81670" y="2176537"/>
            <a:ext cx="211149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 necesidades, hábitos y preferencias reales.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387" y="1640532"/>
            <a:ext cx="338510" cy="338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0114" y="1640532"/>
            <a:ext cx="21114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Obtener evidencia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770114" y="1953890"/>
            <a:ext cx="211149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reales que respalden las decisiones estratégicas.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0831" y="1640532"/>
            <a:ext cx="338510" cy="338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58558" y="1640532"/>
            <a:ext cx="21114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Reducir incertidumbre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558558" y="1953890"/>
            <a:ext cx="211149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Disminuir el riesgo antes de actuar en el mercado.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943" y="2880717"/>
            <a:ext cx="338510" cy="338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1670" y="2880717"/>
            <a:ext cx="2111499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Identificar oportunidades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81670" y="3416722"/>
            <a:ext cx="211149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Detectar nichos o tendencias de mercado emergentes.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2387" y="2880717"/>
            <a:ext cx="338510" cy="338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70114" y="2880717"/>
            <a:ext cx="21114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Apoyar decisiones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3770114" y="3194075"/>
            <a:ext cx="211149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Fundamentar estrategias de marketing con base sólida.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473943" y="4002435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investigación no elimina el riesgo, pero permite tomar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decisiones mejor fundamentadas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42838"/>
            <a:ext cx="8196114" cy="3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 problema de marketing a la investigación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350169"/>
            <a:ext cx="5229895" cy="2963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7355" y="1059656"/>
            <a:ext cx="268738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Caso: Cafetería universitaria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87355" y="1343918"/>
            <a:ext cx="2687389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universidad quiere implementar una nueva cafetería en el campus.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7355" y="1789286"/>
            <a:ext cx="2687389" cy="7097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3019" y="1917799"/>
            <a:ext cx="23732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 decisión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73019" y="2202061"/>
            <a:ext cx="237321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¿Deberíamos implementar la cafetería?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7355" y="2595414"/>
            <a:ext cx="2687389" cy="13163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3019" y="2723927"/>
            <a:ext cx="23732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Preguntas de investigación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73019" y="3008188"/>
            <a:ext cx="2373213" cy="775022"/>
          </a:xfrm>
          <a:prstGeom prst="rect">
            <a:avLst/>
          </a:prstGeom>
          <a:noFill/>
          <a:ln/>
        </p:spPr>
        <p:txBody>
          <a:bodyPr wrap="square" lIns="0" tIns="45702" rIns="0" bIns="0" rtlCol="0" anchor="t">
            <a:normAutofit/>
          </a:bodyPr>
          <a:lstStyle/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¿Los estudiantes comprarían?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productos prefieren?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¿Cuánto gastarían?</a:t>
            </a:r>
            <a:endParaRPr lang="en-US" sz="850" dirty="0"/>
          </a:p>
          <a:p>
            <a:pPr algn="l" marL="172720" indent="-172720">
              <a:lnSpc>
                <a:spcPct val="123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horarios prefieren?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987355" y="4020145"/>
            <a:ext cx="2687389" cy="572095"/>
          </a:xfrm>
          <a:prstGeom prst="roundRect">
            <a:avLst>
              <a:gd name="adj" fmla="val 29957"/>
            </a:avLst>
          </a:prstGeom>
          <a:solidFill>
            <a:srgbClr val="D4E9F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581" y="4168825"/>
            <a:ext cx="142801" cy="1142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8607" y="4135338"/>
            <a:ext cx="2201912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Una decisión de marketing genera preguntas que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pueden investigarse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4079"/>
            <a:ext cx="689818" cy="112440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18368" y="396255"/>
            <a:ext cx="1058168" cy="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 CENTRAL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73943" y="502667"/>
            <a:ext cx="8196114" cy="24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 proceso de investigación de marketing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3943" y="806946"/>
            <a:ext cx="8653314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responde una pregunta y prepara la siguiente. El proceso es secuencial, riguroso y orientado a la toma de decisiones.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944091"/>
            <a:ext cx="8196114" cy="3688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8584" y="1131628"/>
            <a:ext cx="1434294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Identificación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08584" y="1428018"/>
            <a:ext cx="1434294" cy="27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el problema central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27116" y="3897766"/>
            <a:ext cx="1442174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Formulación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127116" y="4194156"/>
            <a:ext cx="1442174" cy="27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Establecer objetivos claros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29887" y="1104046"/>
            <a:ext cx="1434294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Diseño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29887" y="1400435"/>
            <a:ext cx="1434294" cy="27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Planificar método y enfoque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8419" y="3712692"/>
            <a:ext cx="1434294" cy="4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Muestra e instrumento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8419" y="4242425"/>
            <a:ext cx="1434294" cy="41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Seleccionar muestra y herramientas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3943" y="4677817"/>
            <a:ext cx="8653314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proceso avanza desde la </a:t>
            </a:r>
            <a:pPr algn="l" indent="0" marL="0">
              <a:lnSpc>
                <a:spcPct val="103000"/>
              </a:lnSpc>
              <a:buNone/>
            </a:pPr>
            <a:r>
              <a:rPr lang="en-US" sz="5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pregunta inicial</a:t>
            </a:r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hasta la </a:t>
            </a:r>
            <a:pPr algn="l" indent="0" marL="0">
              <a:lnSpc>
                <a:spcPct val="103000"/>
              </a:lnSpc>
              <a:buNone/>
            </a:pPr>
            <a:r>
              <a:rPr lang="en-US" sz="5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decisión fundamentada</a:t>
            </a:r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asegurando que cada paso construya sobre el anterior.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473943" y="394395"/>
            <a:ext cx="773906" cy="192807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0069" y="432420"/>
            <a:ext cx="1078855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 DE 8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3943" y="634752"/>
            <a:ext cx="4767114" cy="835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Identificación y definición del problema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73943" y="1648346"/>
            <a:ext cx="4767114" cy="490984"/>
          </a:xfrm>
          <a:prstGeom prst="roundRect">
            <a:avLst>
              <a:gd name="adj" fmla="val 38784"/>
            </a:avLst>
          </a:prstGeom>
          <a:solidFill>
            <a:srgbClr val="D4E9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4" y="1821284"/>
            <a:ext cx="158651" cy="126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495" y="1799034"/>
            <a:ext cx="468481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¿Qué necesitamos conocer o resolver?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73943" y="2392189"/>
            <a:ext cx="2228701" cy="21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Mal definido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3943" y="2729508"/>
            <a:ext cx="2228701" cy="697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"Las ventas están mal."</a:t>
            </a:r>
            <a:endParaRPr lang="en-US" sz="9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Vago, sin límites claros, imposible de investigar directamente.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017118" y="2392189"/>
            <a:ext cx="2228701" cy="21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Bien definido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17118" y="2729508"/>
            <a:ext cx="2228701" cy="1090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"Las ventas han disminuido entre consumidores de 18 a 25 años durante los últimos seis meses."</a:t>
            </a:r>
            <a:endParaRPr lang="en-US" sz="9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Específico, acotado y orientado a la investigación.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3943" y="4061296"/>
            <a:ext cx="4767114" cy="687735"/>
          </a:xfrm>
          <a:prstGeom prst="roundRect">
            <a:avLst>
              <a:gd name="adj" fmla="val 27689"/>
            </a:avLst>
          </a:prstGeom>
          <a:solidFill>
            <a:srgbClr val="FCF2B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4" y="4234235"/>
            <a:ext cx="158651" cy="1269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6495" y="4211985"/>
            <a:ext cx="4227612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 el problema está mal definido, toda la investigación puede desviarse.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646137"/>
            <a:ext cx="847874" cy="20568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129" y="686693"/>
            <a:ext cx="114270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 DE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90591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Formulación de objetivos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3943" y="1554435"/>
            <a:ext cx="8196114" cy="546199"/>
          </a:xfrm>
          <a:prstGeom prst="roundRect">
            <a:avLst>
              <a:gd name="adj" fmla="val 37188"/>
            </a:avLst>
          </a:prstGeom>
          <a:solidFill>
            <a:srgbClr val="D4E9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02" y="1747986"/>
            <a:ext cx="169218" cy="1353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3879" y="1723579"/>
            <a:ext cx="80780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¿Qué queremos conocer mediante la investigación?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252960"/>
            <a:ext cx="4030340" cy="2244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352" y="2813596"/>
            <a:ext cx="372152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8352" y="3117428"/>
            <a:ext cx="372152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Determinar los factores que influyen en la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intención de compra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una nueva bebida entre estudiantes universitarios.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9642" y="2252960"/>
            <a:ext cx="4030414" cy="2244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94052" y="2813596"/>
            <a:ext cx="37215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94052" y="3117428"/>
            <a:ext cx="3721596" cy="1225451"/>
          </a:xfrm>
          <a:prstGeom prst="rect">
            <a:avLst/>
          </a:prstGeom>
          <a:noFill/>
          <a:ln/>
        </p:spPr>
        <p:txBody>
          <a:bodyPr wrap="square" lIns="0" tIns="54165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 preferencias de sabor y presentación.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la intención de compra del producto.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Determinar los atributos más valorados.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Analizar la relación entre precio e intención de compra.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02943" y="472901"/>
            <a:ext cx="794445" cy="192807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79069" y="510927"/>
            <a:ext cx="1099393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 DE 8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02943" y="713259"/>
            <a:ext cx="4767114" cy="41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Diseño de investigación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902943" y="1309315"/>
            <a:ext cx="4767114" cy="490984"/>
          </a:xfrm>
          <a:prstGeom prst="roundRect">
            <a:avLst>
              <a:gd name="adj" fmla="val 38784"/>
            </a:avLst>
          </a:prstGeom>
          <a:solidFill>
            <a:srgbClr val="D4E9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894" y="1482254"/>
            <a:ext cx="158651" cy="126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5495" y="1460004"/>
            <a:ext cx="468481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¿Cómo vamos a investigar?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902943" y="1934170"/>
            <a:ext cx="2324026" cy="1340123"/>
          </a:xfrm>
          <a:prstGeom prst="roundRect">
            <a:avLst>
              <a:gd name="adj" fmla="val 1421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34656" y="2065883"/>
            <a:ext cx="2060600" cy="21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Exploratoria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034656" y="2355577"/>
            <a:ext cx="2060600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comprender mejor un problema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poco conocido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Se usa cuando hay poca información previa disponible.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45957" y="1934170"/>
            <a:ext cx="2324100" cy="1340123"/>
          </a:xfrm>
          <a:prstGeom prst="roundRect">
            <a:avLst>
              <a:gd name="adj" fmla="val 1421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77670" y="2065883"/>
            <a:ext cx="2060674" cy="21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Descriptiva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77670" y="2355577"/>
            <a:ext cx="2060674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describir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características, opiniones o comportamientos de un grupo de interés.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902943" y="3393281"/>
            <a:ext cx="4767114" cy="946621"/>
          </a:xfrm>
          <a:prstGeom prst="roundRect">
            <a:avLst>
              <a:gd name="adj" fmla="val 20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34656" y="3524994"/>
            <a:ext cx="4503688" cy="21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Causal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34656" y="3814688"/>
            <a:ext cx="4503688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analizar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relaciones de causa y efecto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variables de marketing.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02943" y="4473773"/>
            <a:ext cx="5224314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diseño determina qué información necesitamos y cómo la obtendremos.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2368"/>
            <a:ext cx="428699" cy="102766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499" y="392609"/>
            <a:ext cx="804788" cy="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 DE 8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73943" y="488603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Muestra e instrumento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800026"/>
            <a:ext cx="4015457" cy="40154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59362" y="2263676"/>
            <a:ext cx="4015457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¿A quiénes investigaremos?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59362" y="2408783"/>
            <a:ext cx="4015457" cy="1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5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Población:</a:t>
            </a:r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Todos los estudiantes universitarios.</a:t>
            </a:r>
            <a:endParaRPr lang="en-US" sz="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Muestra: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300 seleccionados para la encuesta.</a:t>
            </a:r>
            <a:endParaRPr lang="en-US" sz="500" dirty="0"/>
          </a:p>
        </p:txBody>
      </p:sp>
      <p:sp>
        <p:nvSpPr>
          <p:cNvPr id="8" name="Shape 5"/>
          <p:cNvSpPr/>
          <p:nvPr/>
        </p:nvSpPr>
        <p:spPr>
          <a:xfrm>
            <a:off x="4659362" y="2656656"/>
            <a:ext cx="4015457" cy="9525"/>
          </a:xfrm>
          <a:prstGeom prst="roundRect">
            <a:avLst>
              <a:gd name="adj" fmla="val 50000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659362" y="2721099"/>
            <a:ext cx="4015457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¿Cómo obtendremos la información?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59362" y="2866206"/>
            <a:ext cx="4015457" cy="267444"/>
          </a:xfrm>
          <a:prstGeom prst="rect">
            <a:avLst/>
          </a:prstGeom>
          <a:noFill/>
          <a:ln/>
        </p:spPr>
        <p:txBody>
          <a:bodyPr wrap="square" lIns="0" tIns="27083" rIns="0" bIns="0" rtlCol="0" anchor="t">
            <a:normAutofit/>
          </a:bodyPr>
          <a:lstStyle/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Cuestionario estructurado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Encuesta presencial o en línea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de medición validada</a:t>
            </a:r>
            <a:endParaRPr lang="en-US" sz="500" dirty="0"/>
          </a:p>
        </p:txBody>
      </p:sp>
      <p:sp>
        <p:nvSpPr>
          <p:cNvPr id="11" name="Shape 8"/>
          <p:cNvSpPr/>
          <p:nvPr/>
        </p:nvSpPr>
        <p:spPr>
          <a:xfrm>
            <a:off x="4659362" y="3171676"/>
            <a:ext cx="4015457" cy="175915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004" y="3225031"/>
            <a:ext cx="84609" cy="676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9256" y="3219004"/>
            <a:ext cx="4185121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¿Podemos preguntarle a toda la población? → Aquí entra el concepto de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muestra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473943" y="401017"/>
            <a:ext cx="622250" cy="150986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3549" y="430783"/>
            <a:ext cx="960239" cy="9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5 DE 8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73943" y="581174"/>
            <a:ext cx="4767114" cy="65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5. Trabajo de campo y recolección de datos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473943" y="1344960"/>
            <a:ext cx="4767114" cy="326306"/>
          </a:xfrm>
          <a:prstGeom prst="roundRect">
            <a:avLst>
              <a:gd name="adj" fmla="val 45714"/>
            </a:avLst>
          </a:prstGeom>
          <a:solidFill>
            <a:srgbClr val="D4E9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60" y="1451074"/>
            <a:ext cx="124271" cy="994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7049" y="1442814"/>
            <a:ext cx="4801791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¿Cómo obtenemos los datos?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73943" y="1753419"/>
            <a:ext cx="397743" cy="596652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15" y="1977107"/>
            <a:ext cx="149126" cy="1491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4687" y="1852836"/>
            <a:ext cx="429637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Investigador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944687" y="2060079"/>
            <a:ext cx="4296370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 el instrumento con criterios uniformes.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73943" y="2423071"/>
            <a:ext cx="397743" cy="596652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15" y="2646759"/>
            <a:ext cx="149126" cy="1491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4687" y="2522488"/>
            <a:ext cx="429637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Participantes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944687" y="2729731"/>
            <a:ext cx="4296370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Responden según su experiencia real.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473943" y="3092723"/>
            <a:ext cx="397743" cy="596652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215" y="3316412"/>
            <a:ext cx="149126" cy="1491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4687" y="3192140"/>
            <a:ext cx="429637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944687" y="3399383"/>
            <a:ext cx="4296370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Cuestionario aplicado correctamente.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473943" y="3762375"/>
            <a:ext cx="397743" cy="596652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8215" y="3986064"/>
            <a:ext cx="149126" cy="14912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4687" y="3861792"/>
            <a:ext cx="429637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Datos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944687" y="4069035"/>
            <a:ext cx="4296370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Respuestas registradas adecuadamente.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473943" y="4441180"/>
            <a:ext cx="4767114" cy="301303"/>
          </a:xfrm>
          <a:prstGeom prst="rect">
            <a:avLst/>
          </a:prstGeom>
          <a:noFill/>
          <a:ln/>
        </p:spPr>
        <p:txBody>
          <a:bodyPr wrap="square" lIns="0" tIns="39778" rIns="0" bIns="0" rtlCol="0" anchor="t">
            <a:normAutofit/>
          </a:bodyPr>
          <a:lstStyle/>
          <a:p>
            <a:pPr algn="l" marL="152400" indent="-152400">
              <a:lnSpc>
                <a:spcPct val="116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alterar las respuestas de los participantes.</a:t>
            </a:r>
            <a:endParaRPr lang="en-US" sz="750" dirty="0"/>
          </a:p>
          <a:p>
            <a:pPr algn="l" marL="152400" indent="-152400">
              <a:lnSpc>
                <a:spcPct val="116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Respetar la privacidad y dignidad de los participantes.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80479"/>
            <a:ext cx="425872" cy="102766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499" y="400720"/>
            <a:ext cx="801960" cy="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6 DE 8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73943" y="496714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6. Procesamiento, análisis e interpretación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770111"/>
            <a:ext cx="8653314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Transformación de datos crudos en hallazgos útiles: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210" y="889397"/>
            <a:ext cx="7933581" cy="29770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15439" y="3137563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Hallazgos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07386" y="3137563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Análisis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07529" y="3016288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Tablas y gráficos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07673" y="3137563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Organización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75032" y="3137563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Datos crudos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3943" y="3938215"/>
            <a:ext cx="4015457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Ejemplo concreto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73943" y="4092848"/>
            <a:ext cx="4472657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300 estudiantes encuestados, 210 manifiestan intención de compra.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659362" y="3938215"/>
            <a:ext cx="4015457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Resultado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659362" y="4092848"/>
            <a:ext cx="4015457" cy="30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70%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659362" y="4433962"/>
            <a:ext cx="4472657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 intención de compra.</a:t>
            </a:r>
            <a:endParaRPr lang="en-US" sz="500" dirty="0"/>
          </a:p>
        </p:txBody>
      </p:sp>
      <p:sp>
        <p:nvSpPr>
          <p:cNvPr id="17" name="Shape 14"/>
          <p:cNvSpPr/>
          <p:nvPr/>
        </p:nvSpPr>
        <p:spPr>
          <a:xfrm>
            <a:off x="473943" y="4583683"/>
            <a:ext cx="8196114" cy="179263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86" y="4634359"/>
            <a:ext cx="84609" cy="676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3837" y="4634359"/>
            <a:ext cx="8365778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¿Qué significa este resultado para la empresa?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98636"/>
            <a:ext cx="799802" cy="15746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6079" y="429667"/>
            <a:ext cx="1132731" cy="9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7 Y 8 DE 8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73943" y="587797"/>
            <a:ext cx="8196114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7. Informe y toma de decisiones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64856" y="1047824"/>
            <a:ext cx="14288" cy="2461915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4378970" y="1157288"/>
            <a:ext cx="207318" cy="1428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7" name="Shape 5"/>
          <p:cNvSpPr/>
          <p:nvPr/>
        </p:nvSpPr>
        <p:spPr>
          <a:xfrm>
            <a:off x="4533156" y="1125587"/>
            <a:ext cx="77688" cy="77688"/>
          </a:xfrm>
          <a:prstGeom prst="ellipse">
            <a:avLst/>
          </a:prstGeom>
          <a:solidFill>
            <a:srgbClr val="4296CD"/>
          </a:solidFill>
          <a:ln/>
        </p:spPr>
      </p:sp>
      <p:sp>
        <p:nvSpPr>
          <p:cNvPr id="8" name="Text 6"/>
          <p:cNvSpPr/>
          <p:nvPr/>
        </p:nvSpPr>
        <p:spPr>
          <a:xfrm>
            <a:off x="473943" y="1083394"/>
            <a:ext cx="3683422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Resultados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943" y="1301502"/>
            <a:ext cx="368342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analizados y presentados.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57713" y="1730648"/>
            <a:ext cx="207318" cy="1428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11" name="Shape 9"/>
          <p:cNvSpPr/>
          <p:nvPr/>
        </p:nvSpPr>
        <p:spPr>
          <a:xfrm>
            <a:off x="4533156" y="1698947"/>
            <a:ext cx="77688" cy="77688"/>
          </a:xfrm>
          <a:prstGeom prst="ellipse">
            <a:avLst/>
          </a:prstGeom>
          <a:solidFill>
            <a:srgbClr val="4296CD"/>
          </a:solidFill>
          <a:ln/>
        </p:spPr>
      </p:sp>
      <p:sp>
        <p:nvSpPr>
          <p:cNvPr id="12" name="Text 10"/>
          <p:cNvSpPr/>
          <p:nvPr/>
        </p:nvSpPr>
        <p:spPr>
          <a:xfrm>
            <a:off x="4986635" y="1656755"/>
            <a:ext cx="3683422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6635" y="1874862"/>
            <a:ext cx="368342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Interpretación de los hallazgos clave.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78970" y="2242468"/>
            <a:ext cx="207318" cy="1428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33156" y="2210767"/>
            <a:ext cx="77688" cy="77688"/>
          </a:xfrm>
          <a:prstGeom prst="ellipse">
            <a:avLst/>
          </a:prstGeom>
          <a:solidFill>
            <a:srgbClr val="4296CD"/>
          </a:solidFill>
          <a:ln/>
        </p:spPr>
      </p:sp>
      <p:sp>
        <p:nvSpPr>
          <p:cNvPr id="16" name="Text 14"/>
          <p:cNvSpPr/>
          <p:nvPr/>
        </p:nvSpPr>
        <p:spPr>
          <a:xfrm>
            <a:off x="473943" y="2168575"/>
            <a:ext cx="3683422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Recomendaciones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3943" y="2386682"/>
            <a:ext cx="368342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Acciones sugeridas para la empresa.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57713" y="2754288"/>
            <a:ext cx="207318" cy="1428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3156" y="2722587"/>
            <a:ext cx="77688" cy="77688"/>
          </a:xfrm>
          <a:prstGeom prst="ellipse">
            <a:avLst/>
          </a:prstGeom>
          <a:solidFill>
            <a:srgbClr val="4296CD"/>
          </a:solidFill>
          <a:ln/>
        </p:spPr>
      </p:sp>
      <p:sp>
        <p:nvSpPr>
          <p:cNvPr id="20" name="Text 18"/>
          <p:cNvSpPr/>
          <p:nvPr/>
        </p:nvSpPr>
        <p:spPr>
          <a:xfrm>
            <a:off x="4986635" y="2680395"/>
            <a:ext cx="3683422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Decisión de marketing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6635" y="2898502"/>
            <a:ext cx="368342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Acción concreta fundamentada en evidencia.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3943" y="3678362"/>
            <a:ext cx="3971627" cy="180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🔎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Hallazgo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943" y="3937695"/>
            <a:ext cx="3971627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intención de compra, pero fuerte </a:t>
            </a:r>
            <a:pPr algn="l"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sensibilidad al precio</a:t>
            </a:r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el segmento objetivo.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3192" y="3678362"/>
            <a:ext cx="3971627" cy="180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Decisión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3192" y="3937695"/>
            <a:ext cx="3971627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Lanzar el producto con un </a:t>
            </a:r>
            <a:pPr algn="l"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precio introductorio</a:t>
            </a:r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evaluar la respuesta del mercado en los primeros tres meses.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3943" y="4391174"/>
            <a:ext cx="8196114" cy="353690"/>
          </a:xfrm>
          <a:prstGeom prst="roundRect">
            <a:avLst>
              <a:gd name="adj" fmla="val 43969"/>
            </a:avLst>
          </a:prstGeom>
          <a:solidFill>
            <a:srgbClr val="B6FCB8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02" y="4505697"/>
            <a:ext cx="129555" cy="1036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10816" y="4496395"/>
            <a:ext cx="8212782" cy="1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investigación termina cuando los resultados pueden utilizarse para </a:t>
            </a:r>
            <a:pPr algn="l"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comprender y decidir</a:t>
            </a:r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73943" y="410840"/>
            <a:ext cx="476711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Ahora ustedes son investigadores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3943" y="790575"/>
            <a:ext cx="4767114" cy="23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Formen equipos y analicen un informe real de investigación de mercados. Identifiquen cada etapa del proceso:</a:t>
            </a:r>
            <a:endParaRPr lang="en-US" sz="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091580"/>
            <a:ext cx="4767114" cy="7525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04145" y="1158180"/>
            <a:ext cx="10663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72319" y="1446981"/>
            <a:ext cx="45703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Problema y Objetivos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2319" y="1628031"/>
            <a:ext cx="4570363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¿Cuál era el problema? ¿Qué buscaba responder la investigación?</a:t>
            </a:r>
            <a:endParaRPr lang="en-US" sz="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1902396"/>
            <a:ext cx="4767114" cy="7525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04145" y="1968996"/>
            <a:ext cx="10663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72319" y="2257797"/>
            <a:ext cx="45703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Diseño y Muestra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72319" y="2438846"/>
            <a:ext cx="4570363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tipo de investigación usaron? ¿A quiénes encuestaron?</a:t>
            </a:r>
            <a:endParaRPr lang="en-US" sz="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2713211"/>
            <a:ext cx="4767114" cy="7525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04145" y="2779812"/>
            <a:ext cx="10663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572319" y="3068613"/>
            <a:ext cx="45703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Recolección e Instrumento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72319" y="3249662"/>
            <a:ext cx="4570363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obtuvieron los datos? ¿Qué instrumento utilizaron?</a:t>
            </a:r>
            <a:endParaRPr lang="en-US" sz="6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3943" y="3524027"/>
            <a:ext cx="4767114" cy="7525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804145" y="3590627"/>
            <a:ext cx="10663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572319" y="3879428"/>
            <a:ext cx="45703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Hallazgos y Decisiones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72319" y="4060478"/>
            <a:ext cx="4570363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encontraron? ¿Qué acciones recomendaron?</a:t>
            </a:r>
            <a:endParaRPr lang="en-US" sz="650" dirty="0"/>
          </a:p>
        </p:txBody>
      </p:sp>
      <p:sp>
        <p:nvSpPr>
          <p:cNvPr id="21" name="Shape 14"/>
          <p:cNvSpPr/>
          <p:nvPr/>
        </p:nvSpPr>
        <p:spPr>
          <a:xfrm>
            <a:off x="473943" y="4342135"/>
            <a:ext cx="4767114" cy="390525"/>
          </a:xfrm>
          <a:prstGeom prst="roundRect">
            <a:avLst>
              <a:gd name="adj" fmla="val 34133"/>
            </a:avLst>
          </a:prstGeom>
          <a:solidFill>
            <a:srgbClr val="B6D6F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794" y="4425776"/>
            <a:ext cx="111026" cy="888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2670" y="4422577"/>
            <a:ext cx="4389537" cy="23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📌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Producto: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Construyan un organizador visual del proceso e indiquen qué evidencia encontraron en cada etapa.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740"/>
            <a:ext cx="8196114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¿Podemos reconstruir el proceso?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953319"/>
            <a:ext cx="5235327" cy="29666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310" y="1676995"/>
            <a:ext cx="2697510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🧩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Caso de práctica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77310" y="1945184"/>
            <a:ext cx="2697510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empresa observa que sus clientes están comprando menos que el año anterior.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¿Qué harías primero?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77310" y="2507084"/>
            <a:ext cx="2697510" cy="678507"/>
          </a:xfrm>
          <a:prstGeom prst="roundRect">
            <a:avLst>
              <a:gd name="adj" fmla="val 23856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210" y="2639839"/>
            <a:ext cx="134838" cy="107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7949" y="2611338"/>
            <a:ext cx="2238970" cy="469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Primero debemos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comprender y definir el problema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antes de decidir cómo investigarlo.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02630" y="4150370"/>
            <a:ext cx="3715643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A. Aplicar una encuesta inmediatamente.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954414" y="4150370"/>
            <a:ext cx="3715643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B. Definir claramente el problema. 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2630" y="4565079"/>
            <a:ext cx="3715643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C. Analizar los resultados.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54414" y="4565079"/>
            <a:ext cx="3715643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D. Elegir una muestra.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73943" y="521271"/>
            <a:ext cx="4767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Antes de terminar...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73943" y="1143298"/>
            <a:ext cx="5224314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Tómate un momento para reflexionar sobre lo aprendido en esta sesión: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492821"/>
            <a:ext cx="2320007" cy="9769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823" y="1628701"/>
            <a:ext cx="204824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01 · Lo aprendido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09823" y="1920701"/>
            <a:ext cx="2048247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aprendí hoy sobre el proceso de investigación?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0975" y="1492821"/>
            <a:ext cx="2320082" cy="9769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56855" y="1628701"/>
            <a:ext cx="2048321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02 · Lo más importante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056855" y="1920701"/>
            <a:ext cx="204832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etapa considero más importante y por qué?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2596753"/>
            <a:ext cx="4767114" cy="9769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823" y="2732633"/>
            <a:ext cx="4495354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03 · La aplicación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09823" y="3024634"/>
            <a:ext cx="449535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podría utilizar la investigación para resolver un problema real de marketing?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70694" y="3859560"/>
            <a:ext cx="4570363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Investigar no es simplemente recopilar datos. Es seguir un proceso para convertir una pregunta en </a:t>
            </a:r>
            <a:pPr algn="l" indent="0" marL="0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evidencia útil para tomar decisiones</a:t>
            </a:r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73943" y="3716610"/>
            <a:ext cx="14288" cy="905619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9546"/>
            <a:ext cx="8196114" cy="24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Las 8 ideas que debemos recordar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7985" y="855092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550" y="818108"/>
            <a:ext cx="793350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8. Apoyar la toma de decisiones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6550" y="964109"/>
            <a:ext cx="7933506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evidencia guía la acción estratégica.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>
            <a:off x="659011" y="1339900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576" y="1302916"/>
            <a:ext cx="782248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7. Interpretar e informar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7576" y="1448916"/>
            <a:ext cx="7822481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Convertir datos en hallazgos comprensibles.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770111" y="1824707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676" y="1787723"/>
            <a:ext cx="771138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6. Procesar y analizar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58676" y="1933724"/>
            <a:ext cx="7711380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Organizar y analizar los datos recolectados.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881211" y="2309515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777" y="2272531"/>
            <a:ext cx="760028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5. Recoger los datos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69777" y="2418531"/>
            <a:ext cx="7600280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Aplicar el instrumento en campo.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770111" y="2794322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676" y="2757339"/>
            <a:ext cx="771138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Determinar muestra e instrumento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58676" y="2903339"/>
            <a:ext cx="7711380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¿A quiénes y con qué herramienta?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659011" y="3279130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576" y="3242146"/>
            <a:ext cx="782248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Diseñar la investigación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7576" y="3388147"/>
            <a:ext cx="7822481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Elegir el enfoque metodológico.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547985" y="3763938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550" y="3726954"/>
            <a:ext cx="793350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Establecer objetivos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6550" y="3872954"/>
            <a:ext cx="7933506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queremos conocer exactamente?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59011" y="4248745"/>
            <a:ext cx="74042" cy="333226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576" y="4211762"/>
            <a:ext cx="782248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Definir el problema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7576" y="4357762"/>
            <a:ext cx="7822481" cy="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punto de partida de todo el proceso.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245343" y="4627587"/>
            <a:ext cx="8653314" cy="96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🔁</a:t>
            </a:r>
            <a:pPr algn="ctr" indent="0" marL="0">
              <a:lnSpc>
                <a:spcPct val="103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ct val="103000"/>
              </a:lnSpc>
              <a:buNone/>
            </a:pPr>
            <a:r>
              <a:rPr lang="en-US" sz="5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Problema → Evidencia → Conocimiento → Decisión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73943" y="806500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456" y="862013"/>
            <a:ext cx="111026" cy="111026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84969" y="1291307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482" y="1346820"/>
            <a:ext cx="111026" cy="11102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96069" y="1776115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582" y="1831628"/>
            <a:ext cx="111026" cy="11102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07169" y="2260922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682" y="2316435"/>
            <a:ext cx="111026" cy="111026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96069" y="2745730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582" y="2801243"/>
            <a:ext cx="111026" cy="111026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84969" y="3230538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0482" y="3286051"/>
            <a:ext cx="111026" cy="111026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473943" y="3715345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9456" y="3770858"/>
            <a:ext cx="111026" cy="111026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584969" y="4200153"/>
            <a:ext cx="222126" cy="222126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0482" y="4255666"/>
            <a:ext cx="111026" cy="1110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02943" y="397594"/>
            <a:ext cx="4767114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Para la próxima sesión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02943" y="1032793"/>
            <a:ext cx="2317924" cy="1665089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0506" y="1180356"/>
            <a:ext cx="2022797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📖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Lectura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50506" y="1492523"/>
            <a:ext cx="2022797" cy="105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el material asignado sobre el </a:t>
            </a:r>
            <a:pPr algn="l"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proceso de investigación de mercados</a:t>
            </a:r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Lleva tus notas y preguntas a clase.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52059" y="1032793"/>
            <a:ext cx="2317998" cy="1665089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9622" y="1180356"/>
            <a:ext cx="2022872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🔎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Reflexión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622" y="1492523"/>
            <a:ext cx="2022872" cy="105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 un </a:t>
            </a:r>
            <a:pPr algn="l"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problema real de marketing</a:t>
            </a:r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podría investigarse mediante un estudio cuantitativo en tu entorno.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02943" y="2829074"/>
            <a:ext cx="4767114" cy="1030412"/>
          </a:xfrm>
          <a:prstGeom prst="roundRect">
            <a:avLst>
              <a:gd name="adj" fmla="val 19405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0506" y="2976637"/>
            <a:ext cx="4471988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Pregunta para traer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50506" y="3288804"/>
            <a:ext cx="4471988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información necesitaríamos para investigarlo? ¿Cómo lo diseñarías?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02943" y="4007048"/>
            <a:ext cx="4767114" cy="738857"/>
          </a:xfrm>
          <a:prstGeom prst="roundRect">
            <a:avLst>
              <a:gd name="adj" fmla="val 27062"/>
            </a:avLst>
          </a:prstGeom>
          <a:solidFill>
            <a:srgbClr val="D4E9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4192935"/>
            <a:ext cx="166613" cy="1332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36107" y="4171504"/>
            <a:ext cx="420067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¡Nos vemos en la próxima sesión! Recuerda: la investigación comienza con una </a:t>
            </a:r>
            <a:pPr algn="l"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buena pregunta</a:t>
            </a:r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2026-08-18T17:16:33Z</dcterms:created>
  <dcterms:modified xsi:type="dcterms:W3CDTF">2026-08-18T17:16:33Z</dcterms:modified>
</cp:coreProperties>
</file>